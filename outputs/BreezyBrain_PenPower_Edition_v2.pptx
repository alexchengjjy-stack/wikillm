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0"/>
            <a:ext cx="12188952" cy="3840480"/>
          </a:xfrm>
          <a:prstGeom prst="rect">
            <a:avLst/>
          </a:prstGeom>
          <a:solidFill>
            <a:srgbClr val="009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75520" y="1097280"/>
            <a:ext cx="10972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0" y="1097280"/>
            <a:ext cx="1097280" cy="1097280"/>
          </a:xfrm>
          <a:prstGeom prst="rect">
            <a:avLst/>
          </a:prstGeom>
          <a:solidFill>
            <a:srgbClr val="009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82828"/>
                </a:solidFill>
              </a:defRPr>
            </a:pPr>
            <a:r>
              <a:t>PenPower 內部提案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217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82828"/>
                </a:solidFill>
              </a:defRPr>
            </a:pPr>
            <a:r>
              <a:t>See Different, Connect Intelligent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9144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BreezyBrain (好好腦)</a:t>
            </a:r>
          </a:p>
          <a:p>
            <a:pPr>
              <a:spcBef>
                <a:spcPts val="1500"/>
              </a:spcBef>
              <a:defRPr sz="2400">
                <a:solidFill>
                  <a:srgbClr val="FFFFFF"/>
                </a:solidFill>
              </a:defRPr>
            </a:pPr>
            <a:r>
              <a:t>下一代 AI 企業工作流操作系統—決策層提案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noFill/>
          <a:ln w="19050">
            <a:solidFill>
              <a:srgbClr val="009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74552" y="365760"/>
            <a:ext cx="548640" cy="548640"/>
          </a:xfrm>
          <a:prstGeom prst="rect">
            <a:avLst/>
          </a:prstGeom>
          <a:noFill/>
          <a:ln w="19050">
            <a:solidFill>
              <a:srgbClr val="009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57432" y="182880"/>
            <a:ext cx="548640" cy="548640"/>
          </a:xfrm>
          <a:prstGeom prst="rect">
            <a:avLst/>
          </a:prstGeom>
          <a:noFill/>
          <a:ln w="19050">
            <a:solidFill>
              <a:srgbClr val="009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CDF"/>
                </a:solidFill>
              </a:defRPr>
            </a:pPr>
            <a:r>
              <a:t>一、 產品核心概念 ── 企業「數位生命體」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82828"/>
                </a:solidFill>
              </a:defRPr>
            </a:pPr>
            <a:r>
              <a:t>■ 視覺感知 (Eyes)：BCR 模組</a:t>
            </a:r>
          </a:p>
          <a:p>
            <a:pPr>
              <a:spcBef>
                <a:spcPts val="500"/>
              </a:spcBef>
              <a:defRPr sz="1600">
                <a:solidFill>
                  <a:srgbClr val="646464"/>
                </a:solidFill>
              </a:defRPr>
            </a:pPr>
            <a:r>
              <a:t>   無縫採集名片轉入資料庫。</a:t>
            </a:r>
          </a:p>
          <a:p>
            <a:pPr>
              <a:spcBef>
                <a:spcPts val="1500"/>
              </a:spcBef>
              <a:defRPr sz="1800" b="1">
                <a:solidFill>
                  <a:srgbClr val="282828"/>
                </a:solidFill>
              </a:defRPr>
            </a:pPr>
            <a:r>
              <a:t>■ 記憶與神經 (Nerves)：CRM (Pipedrive)</a:t>
            </a:r>
          </a:p>
          <a:p>
            <a:pPr>
              <a:spcBef>
                <a:spcPts val="500"/>
              </a:spcBef>
              <a:defRPr sz="1600">
                <a:solidFill>
                  <a:srgbClr val="646464"/>
                </a:solidFill>
              </a:defRPr>
            </a:pPr>
            <a:r>
              <a:t>   自動同步聯絡人，主導銷售漏斗狀態追蹤。</a:t>
            </a:r>
          </a:p>
          <a:p>
            <a:pPr>
              <a:spcBef>
                <a:spcPts val="1500"/>
              </a:spcBef>
              <a:defRPr sz="1800" b="1">
                <a:solidFill>
                  <a:srgbClr val="282828"/>
                </a:solidFill>
              </a:defRPr>
            </a:pPr>
            <a:r>
              <a:t>■ 思維與邏輯 (Logic)：CLM 協作</a:t>
            </a:r>
          </a:p>
          <a:p>
            <a:pPr>
              <a:spcBef>
                <a:spcPts val="500"/>
              </a:spcBef>
              <a:defRPr sz="1600">
                <a:solidFill>
                  <a:srgbClr val="646464"/>
                </a:solidFill>
              </a:defRPr>
            </a:pPr>
            <a:r>
              <a:t>   大模型 AI-review 智慧審約。</a:t>
            </a:r>
          </a:p>
          <a:p>
            <a:pPr>
              <a:spcBef>
                <a:spcPts val="1500"/>
              </a:spcBef>
              <a:defRPr sz="1800" b="1">
                <a:solidFill>
                  <a:srgbClr val="282828"/>
                </a:solidFill>
              </a:defRPr>
            </a:pPr>
            <a:r>
              <a:t>■ 骨骼與肌肉 (Skeleton)：BPM 工作流</a:t>
            </a:r>
          </a:p>
          <a:p>
            <a:pPr>
              <a:spcBef>
                <a:spcPts val="500"/>
              </a:spcBef>
              <a:defRPr sz="1600">
                <a:solidFill>
                  <a:srgbClr val="646464"/>
                </a:solidFill>
              </a:defRPr>
            </a:pPr>
            <a:r>
              <a:t>   涵蓋跨部門內部審批與防錯。</a:t>
            </a:r>
          </a:p>
          <a:p>
            <a:pPr>
              <a:spcBef>
                <a:spcPts val="1500"/>
              </a:spcBef>
              <a:defRPr sz="1800" b="1">
                <a:solidFill>
                  <a:srgbClr val="282828"/>
                </a:solidFill>
              </a:defRPr>
            </a:pPr>
            <a:r>
              <a:t>■ 法律手印 (Action)：ESign (BreezySign)</a:t>
            </a:r>
          </a:p>
          <a:p>
            <a:pPr>
              <a:spcBef>
                <a:spcPts val="500"/>
              </a:spcBef>
              <a:defRPr sz="1600">
                <a:solidFill>
                  <a:srgbClr val="646464"/>
                </a:solidFill>
              </a:defRPr>
            </a:pPr>
            <a:r>
              <a:t>   調用 BZS API 自動傳簽與聲明錄影。</a:t>
            </a:r>
          </a:p>
          <a:p>
            <a:pPr>
              <a:spcBef>
                <a:spcPts val="1500"/>
              </a:spcBef>
              <a:defRPr sz="1800" b="1">
                <a:solidFill>
                  <a:srgbClr val="282828"/>
                </a:solidFill>
              </a:defRPr>
            </a:pPr>
            <a:r>
              <a:t>■ 終極大腦 (Soul)：Local LLM &amp; KM Wiki</a:t>
            </a:r>
          </a:p>
          <a:p>
            <a:pPr>
              <a:spcBef>
                <a:spcPts val="500"/>
              </a:spcBef>
              <a:defRPr sz="1600">
                <a:solidFill>
                  <a:srgbClr val="646464"/>
                </a:solidFill>
              </a:defRPr>
            </a:pPr>
            <a:r>
              <a:t>   將歷史合約圖譜化，沉澱入專屬 Wiki。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noFill/>
          <a:ln w="19050">
            <a:solidFill>
              <a:srgbClr val="009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74552" y="365760"/>
            <a:ext cx="548640" cy="548640"/>
          </a:xfrm>
          <a:prstGeom prst="rect">
            <a:avLst/>
          </a:prstGeom>
          <a:noFill/>
          <a:ln w="19050">
            <a:solidFill>
              <a:srgbClr val="009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57432" y="182880"/>
            <a:ext cx="548640" cy="548640"/>
          </a:xfrm>
          <a:prstGeom prst="rect">
            <a:avLst/>
          </a:prstGeom>
          <a:noFill/>
          <a:ln w="19050">
            <a:solidFill>
              <a:srgbClr val="009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CDF"/>
                </a:solidFill>
              </a:defRPr>
            </a:pPr>
            <a:r>
              <a:t>二、 BreezyBrain 六大支柱系統架構圖 (Framework)</a:t>
            </a:r>
          </a:p>
        </p:txBody>
      </p:sp>
      <p:pic>
        <p:nvPicPr>
          <p:cNvPr id="6" name="Picture 5" descr="breezy_brain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6" y="16459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noFill/>
          <a:ln w="19050">
            <a:solidFill>
              <a:srgbClr val="009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74552" y="365760"/>
            <a:ext cx="548640" cy="548640"/>
          </a:xfrm>
          <a:prstGeom prst="rect">
            <a:avLst/>
          </a:prstGeom>
          <a:noFill/>
          <a:ln w="19050">
            <a:solidFill>
              <a:srgbClr val="009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57432" y="182880"/>
            <a:ext cx="548640" cy="548640"/>
          </a:xfrm>
          <a:prstGeom prst="rect">
            <a:avLst/>
          </a:prstGeom>
          <a:noFill/>
          <a:ln w="19050">
            <a:solidFill>
              <a:srgbClr val="009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CDF"/>
                </a:solidFill>
              </a:defRPr>
            </a:pPr>
            <a:r>
              <a:t>三、 執行長視角 (CEO Viewpoint) ── 商業增長機會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82828"/>
                </a:solidFill>
              </a:defRPr>
            </a:pPr>
            <a:r>
              <a:t>■ 迎合修法紅利 ➕ 企業 AI 轉型</a:t>
            </a:r>
          </a:p>
          <a:p>
            <a:pPr>
              <a:spcBef>
                <a:spcPts val="500"/>
              </a:spcBef>
              <a:defRPr sz="1600">
                <a:solidFill>
                  <a:srgbClr val="646464"/>
                </a:solidFill>
              </a:defRPr>
            </a:pPr>
            <a:r>
              <a:t>   鎖定「高頻交易傳簽行業」與中微型企業。</a:t>
            </a:r>
          </a:p>
          <a:p>
            <a:pPr>
              <a:spcBef>
                <a:spcPts val="1500"/>
              </a:spcBef>
              <a:defRPr sz="1800" b="1">
                <a:solidFill>
                  <a:srgbClr val="282828"/>
                </a:solidFill>
              </a:defRPr>
            </a:pPr>
            <a:r>
              <a:t>■ 突破資訊孤島痛點</a:t>
            </a:r>
          </a:p>
          <a:p>
            <a:pPr>
              <a:spcBef>
                <a:spcPts val="500"/>
              </a:spcBef>
              <a:defRPr sz="1600">
                <a:solidFill>
                  <a:srgbClr val="646464"/>
                </a:solidFill>
              </a:defRPr>
            </a:pPr>
            <a:r>
              <a:t>   打擊手動重複輸入，縮短 90% 人工作業。</a:t>
            </a:r>
          </a:p>
          <a:p>
            <a:pPr>
              <a:spcBef>
                <a:spcPts val="1500"/>
              </a:spcBef>
              <a:defRPr sz="1800" b="1">
                <a:solidFill>
                  <a:srgbClr val="282828"/>
                </a:solidFill>
              </a:defRPr>
            </a:pPr>
            <a:r>
              <a:t>■ 性價比包抄戰略</a:t>
            </a:r>
          </a:p>
          <a:p>
            <a:pPr>
              <a:spcBef>
                <a:spcPts val="500"/>
              </a:spcBef>
              <a:defRPr sz="1600">
                <a:solidFill>
                  <a:srgbClr val="646464"/>
                </a:solidFill>
              </a:defRPr>
            </a:pPr>
            <a:r>
              <a:t>   提供年繳發送無上限方案，降維打擊外商。</a:t>
            </a:r>
          </a:p>
          <a:p>
            <a:pPr>
              <a:spcBef>
                <a:spcPts val="1500"/>
              </a:spcBef>
              <a:defRPr sz="1800" b="1">
                <a:solidFill>
                  <a:srgbClr val="282828"/>
                </a:solidFill>
              </a:defRPr>
            </a:pPr>
            <a:r>
              <a:t>■ Breezy 雙星產品線</a:t>
            </a:r>
          </a:p>
          <a:p>
            <a:pPr>
              <a:spcBef>
                <a:spcPts val="500"/>
              </a:spcBef>
              <a:defRPr sz="1600">
                <a:solidFill>
                  <a:srgbClr val="646464"/>
                </a:solidFill>
              </a:defRPr>
            </a:pPr>
            <a:r>
              <a:t>   好好簽(手腳) + 好好腦(大腦) 綑綁，倍增 LTV。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88952" cy="3200400"/>
          </a:xfrm>
          <a:prstGeom prst="rect">
            <a:avLst/>
          </a:prstGeom>
          <a:solidFill>
            <a:srgbClr val="009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463040"/>
            <a:ext cx="1097280" cy="1097280"/>
          </a:xfrm>
          <a:prstGeom prst="rect">
            <a:avLst/>
          </a:prstGeom>
          <a:solidFill>
            <a:srgbClr val="009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68880" y="1463040"/>
            <a:ext cx="10972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228600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800">
                <a:solidFill>
                  <a:srgbClr val="FFFFFF"/>
                </a:solidFill>
              </a:defRPr>
            </a:pPr>
            <a:r>
              <a:t>THE END</a:t>
            </a:r>
          </a:p>
          <a:p>
            <a:pPr algn="r">
              <a:spcBef>
                <a:spcPts val="3000"/>
              </a:spcBef>
              <a:defRPr sz="2800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943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282828"/>
                </a:solidFill>
              </a:defRPr>
            </a:pPr>
            <a:r>
              <a:t>PenPower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