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0D6FF"/>
                </a:solidFill>
                <a:latin typeface="Microsoft JhengHei"/>
              </a:defRPr>
            </a:pPr>
            <a:r>
              <a:t>MARKET INTELLIGENCE REPORT | 2026 年 5 月</a:t>
            </a:r>
          </a:p>
          <a:p>
            <a:pPr>
              <a:spcAft>
                <a:spcPts val="400"/>
              </a:spcAft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電子簽章能量登錄競品情報普查快照</a:t>
            </a:r>
          </a:p>
          <a:p>
            <a:pPr>
              <a:spcAft>
                <a:spcPts val="3600"/>
              </a:spcAft>
              <a:defRPr sz="1800">
                <a:solidFill>
                  <a:srgbClr val="D2DCF0"/>
                </a:solidFill>
                <a:latin typeface="Microsoft JhengHei"/>
              </a:defRPr>
            </a:pPr>
            <a:r>
              <a:t>跨品牌 SEM 廣告預算與 GEO 生成式引擎檢索實證分析</a:t>
            </a:r>
          </a:p>
          <a:p>
            <a:pPr>
              <a:defRPr sz="1200">
                <a:solidFill>
                  <a:srgbClr val="00D6FF"/>
                </a:solidFill>
                <a:latin typeface="Microsoft JhengHei"/>
              </a:defRPr>
            </a:pPr>
            <a:r>
              <a:t>蒙恬科技 ． 市場情報與業務前線即戰力簡報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01 / MARKET PANORAMA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2026 年 5 月電子簽章市場格局全景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🔍 普查方法與觀測維度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五大情報觀測管道：官網動態、內容行銷策略、104人才招募、搜尋能見度 (SEM/SEO/GEO) 及 PR 與政府標案動能。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數據獲取：實證彙整 SEMrush 流量預算數據、Google 廣告透明度中心實時文案、Perplexity/Gemini 引用滲透率。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8088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6688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⚖️ 三大陣營定位與格局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流量收割陣營：點點簽 (DottedSign) 以極高買量與生態系整合稱霸市場聲量。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垂直 CLM 陣營：律果簽 (LegalSign) 深耕法律 AI 工程師招募與合約管理防禦。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基礎資安陣營：全景軟體 (FastSIGN) 地端硬核 PKI 安全規格，線上處於靜默。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8452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7052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⚠️ 我方好好簽定位省思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實力卓越但缺乏宣告：背靠蒙恬上櫃技術且通過數發部官方能量登錄，但官網零宣傳，公信力靜默斷鏈。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AI 引用率僅 40%：定價頁缺乏 FAQ 模組，面臨大模型檢索盲區，急需戰略反擊。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02 / COMPETITOR BASELINE OVERVIEW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競品觀測基礎數據基準線 (營運規模、定價與內容優勢)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/>
                <a:gridCol w="2286000"/>
                <a:gridCol w="2286000"/>
                <a:gridCol w="2286000"/>
                <a:gridCol w="2286000"/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數據維度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好好簽 (BreezySign) 我方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點點簽 (DottedSign)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律果簽 (LegalSign)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FastSIGN (全景)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母公司 / 主體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蒙恬科技 (PenPower)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凱鈿行動科技 (Kdan)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律果科技 (Legaltech)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全景軟體 (Changingtec)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公司員工人數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總部約 90 人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(電簽為旗下獨立業務)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全球約 200 - 230 人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約 12 - 20 人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(法務科技純血新創)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約 170 人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(緯創集團成員興櫃廠)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主要方案與價格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免費: NT$0 (3份/月)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專業: NT$300/月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企業: NT$1,500/月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客製: API 整合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Pro: USD 15/月 (年繳 $96)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Business: USD 200起/年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Enterprise: 客製報價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體驗: NT$0 (3份/月)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基本: NT$180/月/人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標準: NT$490/月/人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專業: NT$980/月/人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羽量: NT$2,800/年 (1人)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輕量: NT$25,000/年 (5人)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標準: NT$49,000/年 (10人)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• Pro: 地端永久授權買斷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官方 Blog 數量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約 20 - 40 篇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(側重電簽法解析/ESG)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約 60 - 100 篇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(高頻更新，含產品/故事)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約 30 - 50 篇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(合約講堂/教學/智庫)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約 15 - 30 篇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(資安公告/憑證技術)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客戶案例 (實績)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官網 0 篇 (內部日報累積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10+ 家，如富友旅行社)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約 9 - 15 篇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(如 SurveyCake/YONEX)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約 5 - 10 篇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(CLM導入/宏碁國泰合作)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導入九成銀行與34+政府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網頁案例約 15 - 25 篇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核心優勢亮點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聲明錄影防賴證據力強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與手寫面板深度整合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支援 LINE 在地化通知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國際化品牌與口碑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API 串接門檻極低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大型任務包裝划算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唯一內建合約管理 (CLM)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具備法律合規與法顧加持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地端永久授權買斷制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興櫃資安大廠背書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AD 系統整合實力強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03 / SEM &amp; GEO COMPARISON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各家 SEM 廣告預算與關鍵字實證對比表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/>
                <a:gridCol w="2286000"/>
                <a:gridCol w="2286000"/>
                <a:gridCol w="2286000"/>
                <a:gridCol w="2286000"/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數據維度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好好簽 (BreezySign) 我方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點點簽 (DottedSign)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律果簽 (LegalSign)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FastSIGN (全景)</a:t>
                      </a:r>
                    </a:p>
                  </a:txBody>
                  <a:tcPr>
                    <a:solidFill>
                      <a:srgbClr val="1A2D54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預估日均廣告預算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NT$ 500 - 800 / 日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NT$ 2,700 - 4,000 / 日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NT$ 800 - 1,300 / 日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NT$ 170 - 500 / 日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預估月度廣告預算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NT$ 15,000 - 25,000 / 月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NT$ 80,000 - 120,000 / 月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NT$ 25,000 - 40,000 / 月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NT$ 5,000 - 15,000 / 月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核心付費關鍵字</a:t>
                      </a:r>
                    </a:p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(Google Ads)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線上合約簽署、免費電子簽名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手寫板簽名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電子簽章、數位簽名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電子簽署 API、PDF 簽名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合約管理系統、合約 CLM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線上審約、定型化契約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PKI 憑證地端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AD 系統整合、行動 Fido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廣告實證運行狀態</a:t>
                      </a:r>
                    </a:p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(透明度中心實證)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🔴 無廣告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(實證處於靜默狀態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完全無運行中廣告)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🟢 運行中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(強打 SurveyCake 串接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TWFidO 刷臉簽等8組廣告)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🟢 運行中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(強打百款合約範本下載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AI 助理30秒審約等4組廣告)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🔴 無廣告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(行銷重心純線下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無任何線上廣告運行)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AI 引用滲透率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9A3C"/>
                          </a:solidFill>
                          <a:latin typeface="Microsoft JhengHei"/>
                        </a:defRPr>
                      </a:pPr>
                      <a:r>
                        <a:t>40% (落後)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FFA6"/>
                          </a:solidFill>
                          <a:latin typeface="Microsoft JhengHei"/>
                        </a:defRPr>
                      </a:pPr>
                      <a:r>
                        <a:t>85% (領先)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9A3C"/>
                          </a:solidFill>
                          <a:latin typeface="Microsoft JhengHei"/>
                        </a:defRPr>
                      </a:pPr>
                      <a:r>
                        <a:t>60% (中等)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&lt; 10% (極低)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D6FF"/>
                          </a:solidFill>
                          <a:latin typeface="Microsoft JhengHei"/>
                        </a:defRPr>
                      </a:pPr>
                      <a:r>
                        <a:t>GEO 推薦與標籤</a:t>
                      </a:r>
                    </a:p>
                  </a:txBody>
                  <a:tcPr>
                    <a:solidFill>
                      <a:srgbClr val="131B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被標記「台灣本土廠商」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「符合能量登錄」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主打聲明錄影與簽名板整合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被標記「跨國首選」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「功能最全」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主打 API 整合與 ESG 標籤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被標記「法務合規」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「律師推薦」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主打內建 CLM 與 AI 審約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被標記「資安地端大廠」</a:t>
                      </a:r>
                    </a:p>
                    <a:p>
                      <a:pPr algn="l">
                        <a:defRPr sz="1200">
                          <a:solidFill>
                            <a:srgbClr val="D2DCF0"/>
                          </a:solidFill>
                          <a:latin typeface="Microsoft JhengHei"/>
                        </a:defRPr>
                      </a:pPr>
                      <a:r>
                        <a:t>幾乎未被消費級 AI 引擎引用</a:t>
                      </a:r>
                    </a:p>
                  </a:txBody>
                  <a:tcPr>
                    <a:solidFill>
                      <a:srgbClr val="0D15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04 / DOTTEDSIGN INTEL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點點簽 (DottedSign) — 流量收割與強勢佈局者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FA6"/>
                </a:solidFill>
                <a:latin typeface="Microsoft JhengHei"/>
              </a:defRPr>
            </a:pPr>
            <a:r>
              <a:t>🌐 官網定價與整合動態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任務次數計費：以簽署任務次數為計費基礎，企業內部高頻發送時加購成本高昂。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SurveyCake 深度整合：一站式結合「問卷填寫」與「自動送簽」，精準收割人資與商務表單客群。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支援行動 TWFidO：強調手機 10 秒即簽，主打高資安強度的身分識別。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8088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6688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FA6"/>
                </a:solidFill>
                <a:latin typeface="Microsoft JhengHei"/>
              </a:defRPr>
            </a:pPr>
            <a:r>
              <a:t>📝 內容行銷與 Topical Authority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200+ 篇 Blog 矩陣：官網長期累積龐大文章量，奠定「電子簽章」極強的自然搜尋權威。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ESG 綠色轉型剛需：高頻發布 YONEX 導入案例與碳排紅利，精準吃下上市櫃企業採購意圖。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8452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7052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FFA6"/>
                </a:solidFill>
                <a:latin typeface="Microsoft JhengHei"/>
              </a:defRPr>
            </a:pPr>
            <a:r>
              <a:t>🔍 SEM 廣告與 GEO 實證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月預算高達 8-12 萬：佔據市場霸主地位，高價攔截我方及 DocuSign 品牌詞。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AI 引用滲透率 85%：在 Perplexity / Gemini 中提及率居首，被標記為「跨國首選」、「功能最全」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05 / LEGALSIGN INTEL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律果簽 (LegalSign.ai) — 垂直深耕的法遵護城河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9A3C"/>
                </a:solidFill>
                <a:latin typeface="Microsoft JhengHei"/>
              </a:defRPr>
            </a:pPr>
            <a:r>
              <a:t>🌐 CLM 定價與 product GEO 軟肋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透明價格階梯：基本方案 NT$180/人、標準方案 NT$490/人、專業方案 NT$980/人，API 與 CLM 為客製加購。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⚠️ 產品頁無 FAQ：價格方案頁底部缺乏整合 FAQ，大模型抓取其定價與退改規則的難度高。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8088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6688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9A3C"/>
                </a:solidFill>
                <a:latin typeface="Microsoft JhengHei"/>
              </a:defRPr>
            </a:pPr>
            <a:r>
              <a:t>📝 內容文章與 AI 工程師招募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法律 AI 主題集火：Blog 發布多篇「AI 審約」與 CLM 法遵文章，強化「法律科技專家」定位。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👥 104 招募戰略重心：開出「法律 AI 解決方案工程師」關鍵職缺，要求具備 LLM 開發能力，深耕垂直護城河。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8452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7052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F9A3C"/>
                </a:solidFill>
                <a:latin typeface="Microsoft JhengHei"/>
              </a:defRPr>
            </a:pPr>
            <a:r>
              <a:t>🔍 搜尋廣告預算與 SEO 裸奔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預估月預算 2.5-4 萬：集火 CLM 管理詞。但 ❌ SEO 標籤裸奔：首頁 Title Tag 僅設定為單純 `LegalSign.ai`，未含核心商業詞，流失通用搜尋流量。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AI 引用滲透率 60%：常被標記為「法務合規」、「律師推薦」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06 / FASTSIGN INTEL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全景 FastSIGN — 基礎資安架構巨頭的軟硬兼施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2DCF0"/>
                </a:solidFill>
                <a:latin typeface="Microsoft JhengHei"/>
              </a:defRPr>
            </a:pPr>
            <a:r>
              <a:t>🌐 資安底蘊與地端整合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上櫃資安大廠底層：依託全景軟體硬核的 PKI 憑證技術，安全合規規格極高。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AD 域控制地端部署：專攻中大型企業與政府單位的內部地端部署客製化串接，與精誠資訊等大型通路商結盟。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8088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6688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2DCF0"/>
                </a:solidFill>
                <a:latin typeface="Microsoft JhengHei"/>
              </a:defRPr>
            </a:pPr>
            <a:r>
              <a:t>📝 線下重心與線上內容靜默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⚠️ 線上行銷靜默：官方 Blog 長期無更新，缺乏針對自然流量的內容布局。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無線上付費廣告：主要依靠增加資安展會、政府標案及線下推廣，Google 廣告實證為 🔴 完全無運行廣告。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8452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D2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7052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2DCF0"/>
                </a:solidFill>
                <a:latin typeface="Microsoft JhengHei"/>
              </a:defRPr>
            </a:pPr>
            <a:r>
              <a:t>🔍 GEO 盲區與引用的黑洞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預估月預算 5k-15k：僅維持 brand word 防禦。❌ GEO 引用率 &lt; 10%：線上文字情報極少，大眾消費級 AI 引擎完全無法檢索及推薦此品牌。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07 / BREEZYSIGN WEAKNESS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好好簽 (BreezySign 我方) — 戰略盲區與優勢靜默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⚠️ 合規宣告缺席 (公信力靜默)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能量登錄硬優勢：已通過數發部「113 年電子簽章解決方案服務能量登錄」官方合規資質，推定效力完備。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❌ 官網隻字未提：該合規優勢在好好簽產品官網首頁、功能頁上完全未提及，導致大模型與客戶無法獲取該信任錨點。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8088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6688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⚠️ 核心字組攔截空白 (廣告真空)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流量低商業意圖：主要投放「線上合約簽署」、「手寫板簽名」等偏免費體驗的通用詞。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❌ 攔截詞重大缺漏：完全沒有投放「數發部能量登錄」、「合規電子簽章法」等高採購意圖核心詞，使得在政府與法人大模型推薦中完全處於靜默。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8452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7052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⚠️ SEO 品牌發散與 FAQ 資訊黑洞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實體稀釋與檢索空白：首頁 Title Tag 關鍵字覆蓋密度不足，且「蒙恬好好簽」與「BreezySign 好好簽」在不同網頁中混用。官網價格與常見問題 FAQ 模組「僅有問題、沒有文字解答」，AI 引用率僅 40% 落後。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08 / BATTLE CARD VS DOTTEDSIGN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前線即戰力：對話反駁 Battle Card (1)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4415" cy="4389120"/>
          </a:xfrm>
          <a:prstGeom prst="rect">
            <a:avLst/>
          </a:prstGeom>
          <a:solidFill>
            <a:srgbClr val="131B35"/>
          </a:solidFill>
          <a:ln w="25400">
            <a:solidFill>
              <a:srgbClr val="00F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0FFA6"/>
                </a:solidFill>
                <a:latin typeface="Microsoft JhengHei"/>
              </a:defRPr>
            </a:pPr>
            <a:r>
              <a:t>🆚 當客戶提及「點點簽 (DottedSign)」</a:t>
            </a:r>
          </a:p>
          <a:p>
            <a:pPr>
              <a:spcAft>
                <a:spcPts val="1800"/>
              </a:spcAft>
              <a:defRPr sz="1600" b="1" i="1">
                <a:solidFill>
                  <a:srgbClr val="FF9A3C"/>
                </a:solidFill>
                <a:latin typeface="Microsoft JhengHei"/>
              </a:defRPr>
            </a:pPr>
            <a:r>
              <a:t>客戶質疑：「點點簽市佔率很高，而且現在串接了問卷系統感覺很完整。」</a:t>
            </a:r>
          </a:p>
          <a:p>
            <a:pPr>
              <a:lnSpc>
                <a:spcPct val="130000"/>
              </a:lnSpc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我方反駁話術框架：</a:t>
            </a:r>
            <a:br/>
            <a:r>
              <a:t>「點點簽確實做得早，但其商務計費核心是基於『簽署任務次數』，當您企業內部用印量或自動化發送量大增時，後續加購成本會直線上線。</a:t>
            </a:r>
            <a:br/>
            <a:r>
              <a:t>好好簽同樣通過數發部電子簽章能量登錄官方審查，具備同等級的數位憑證不可否認性；且我們背靠上櫃公司蒙恬科技 30 年의 技術支援，能提供您更具彈性且透明的授權計費結構，不會用次數綁架您的長遠數位化流程。」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09 / BATTLE CARD VS LEGALSIGN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前線即戰力：對話反駁 Battle Card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4415" cy="4389120"/>
          </a:xfrm>
          <a:prstGeom prst="rect">
            <a:avLst/>
          </a:prstGeom>
          <a:solidFill>
            <a:srgbClr val="131B35"/>
          </a:solidFill>
          <a:ln w="25400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F9A3C"/>
                </a:solidFill>
                <a:latin typeface="Microsoft JhengHei"/>
              </a:defRPr>
            </a:pPr>
            <a:r>
              <a:t>🆚 當客戶提及「律果簽 (LegalSign)」</a:t>
            </a:r>
          </a:p>
          <a:p>
            <a:pPr>
              <a:spcAft>
                <a:spcPts val="1800"/>
              </a:spcAft>
              <a:defRPr sz="1600" b="1" i="1">
                <a:solidFill>
                  <a:srgbClr val="00FFA6"/>
                </a:solidFill>
                <a:latin typeface="Microsoft JhengHei"/>
              </a:defRPr>
            </a:pPr>
            <a:r>
              <a:t>客戶質疑：「律果簽有律師團隊撰寫範本，定價 490/980 也標得很清楚。」</a:t>
            </a:r>
          </a:p>
          <a:p>
            <a:pPr>
              <a:lnSpc>
                <a:spcPct val="130000"/>
              </a:lnSpc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我方反駁話術框架：</a:t>
            </a:r>
            <a:br/>
            <a:r>
              <a:t>「律果簽在合約 CLM 的深度確實有其特色，但純軟新創在底層系統整合與長期營運穩定度上，往往不如具備硬體與原生研發實力的老牌大廠。</a:t>
            </a:r>
            <a:br/>
            <a:r>
              <a:t>好好簽不僅提供符合電子簽章法推定效力的數位簽署，更整合了蒙恬科技深厚的影像與文字辨識底層技術。若您需要的是一套運行極速、直覺且具備國家級能量登錄資質的純粹電子簽核中樞，好好簽能給予您更輕量、無痛的導入體驗。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0D6FF"/>
                </a:solidFill>
                <a:latin typeface="Microsoft JhengHei"/>
              </a:defRPr>
            </a:pPr>
            <a:r>
              <a:t>10 / GEO ACTION PLAN</a:t>
            </a:r>
          </a:p>
          <a:p>
            <a:pPr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決策實施建議：我方 GEO 反擊行動方案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🥇 1. 官網掛載能量登錄徽章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行動：於好好簽產品官網首頁首屏 (Above the fold) 顯眼處、定價頁頂部掛載「通過數發部電子簽章服務能量登錄」徽章與官方證書連結。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效果：補齊公信力信任錨點，供大模型掃描並貼上「國家官方合規推薦」品牌實體標籤。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8088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6688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📝 2. 補齊定價 FAQ 語意解答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行動：將常見問題 (FAQ) 由單純的摺疊連結，修改為「包含完整繁體中文文字解答」的 FAQ 語意板塊，並埋設 Schema Markup 結構化數據。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效果：供 AI 搜尋引擎 (Perplexity/Gemini) 爬取並精確對比定價方案，打破檢索資訊黑洞。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8452" y="1463040"/>
            <a:ext cx="3453688" cy="4572000"/>
          </a:xfrm>
          <a:prstGeom prst="rect">
            <a:avLst/>
          </a:prstGeom>
          <a:solidFill>
            <a:srgbClr val="131B35"/>
          </a:solidFill>
          <a:ln w="19050"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7052" y="1691640"/>
            <a:ext cx="2996488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6FF"/>
                </a:solidFill>
                <a:latin typeface="Microsoft JhengHei"/>
              </a:defRPr>
            </a:pPr>
            <a:r>
              <a:t>🎯 3. 攔截高採購意圖關鍵字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行動：新增投放「數發部能量登錄」、「合規電子簽章法」、「政府電子簽章合格」等垂直專業合規字組廣告。</a:t>
            </a:r>
          </a:p>
          <a:p>
            <a:pPr>
              <a:spcAft>
                <a:spcPts val="1000"/>
              </a:spcAft>
              <a:defRPr sz="1400">
                <a:solidFill>
                  <a:srgbClr val="D2DCF0"/>
                </a:solidFill>
                <a:latin typeface="Microsoft JhengHei"/>
              </a:defRPr>
            </a:pPr>
            <a:r>
              <a:t>• 效果：攔截具有高客單價、政府/企業背景的高意圖採購決策流量，提升大模型被問及時的推薦概率。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