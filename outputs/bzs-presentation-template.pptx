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78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828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zs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2386584" cy="4754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292608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600" b="1">
                <a:solidFill>
                  <a:srgbClr val="FFFFFF"/>
                </a:solidFill>
                <a:latin typeface="Microsoft JhengHei"/>
              </a:defRPr>
            </a:pPr>
            <a:r>
              <a:t>BreezySign 好好簽</a:t>
            </a:r>
          </a:p>
          <a:p>
            <a:pPr>
              <a:spcBef>
                <a:spcPts val="1500"/>
              </a:spcBef>
              <a:defRPr sz="2600" b="1">
                <a:solidFill>
                  <a:srgbClr val="FFFFFF"/>
                </a:solidFill>
                <a:latin typeface="Microsoft JhengHei"/>
              </a:defRPr>
            </a:pPr>
            <a:r>
              <a:t>專屬商業演示與技術分析報告用簡報模板</a:t>
            </a:r>
          </a:p>
          <a:p>
            <a:pPr>
              <a:spcBef>
                <a:spcPts val="3000"/>
              </a:spcBef>
              <a:defRPr sz="1400">
                <a:solidFill>
                  <a:srgbClr val="C8E6D7"/>
                </a:solidFill>
                <a:latin typeface="Microsoft JhengHei"/>
              </a:defRPr>
            </a:pPr>
            <a:r>
              <a:t>蒙恬科技 ． 電子簽章市場與技術優化小組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84C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377440"/>
            <a:ext cx="944575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C8E6FF"/>
                </a:solidFill>
                <a:latin typeface="Outfit"/>
              </a:defRPr>
            </a:pPr>
            <a:r>
              <a:t>PART 01</a:t>
            </a:r>
          </a:p>
          <a:p>
            <a:pPr>
              <a:spcBef>
                <a:spcPts val="1000"/>
              </a:spcBef>
              <a:defRPr sz="4000" b="1">
                <a:solidFill>
                  <a:srgbClr val="FFFFFF"/>
                </a:solidFill>
                <a:latin typeface="Microsoft JhengHei"/>
              </a:defRPr>
            </a:pPr>
            <a:r>
              <a:t>地端大腦部署與開源模型選型分析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5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88952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57857"/>
                </a:solidFill>
                <a:latin typeface="Microsoft JhengHei"/>
              </a:defRPr>
            </a:pPr>
            <a:r>
              <a:t>二、 雙欄式多功能資訊卡片 (經典 Light 佈局)</a:t>
            </a:r>
          </a:p>
        </p:txBody>
      </p:sp>
      <p:pic>
        <p:nvPicPr>
          <p:cNvPr id="5" name="Picture 4" descr="bzs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347472"/>
            <a:ext cx="1828800" cy="3657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57857"/>
                </a:solidFill>
                <a:latin typeface="Microsoft JhengHei"/>
              </a:defRPr>
            </a:pPr>
            <a:r>
              <a:t>📌 模組 A：銷售情報與垂直行銷</a:t>
            </a:r>
          </a:p>
          <a:p>
            <a:pPr>
              <a:spcBef>
                <a:spcPts val="1000"/>
              </a:spcBef>
              <a:defRPr sz="1400">
                <a:solidFill>
                  <a:srgbClr val="0F172A"/>
                </a:solidFill>
                <a:latin typeface="Microsoft JhengHei"/>
              </a:defRPr>
            </a:pPr>
            <a:r>
              <a:t>1. 點點簽大漲 3-5 倍，改以份計費引發年費大漲輿情。</a:t>
            </a:r>
          </a:p>
          <a:p>
            <a:pPr>
              <a:spcBef>
                <a:spcPts val="1000"/>
              </a:spcBef>
              <a:defRPr sz="1400">
                <a:solidFill>
                  <a:srgbClr val="0F172A"/>
                </a:solidFill>
                <a:latin typeface="Microsoft JhengHei"/>
              </a:defRPr>
            </a:pPr>
            <a:r>
              <a:t>2. 太平洋旅行社確定跳槽好好簽，啟用 40人吃到飽方案。</a:t>
            </a:r>
          </a:p>
          <a:p>
            <a:pPr>
              <a:spcBef>
                <a:spcPts val="1000"/>
              </a:spcBef>
              <a:defRPr sz="1400">
                <a:solidFill>
                  <a:srgbClr val="0F172A"/>
                </a:solidFill>
                <a:latin typeface="Microsoft JhengHei"/>
              </a:defRPr>
            </a:pPr>
            <a:r>
              <a:t>3. 微型客資去重 dedupe 引擎已正式發布，防禦數據混淆。</a:t>
            </a:r>
          </a:p>
          <a:p>
            <a:pPr>
              <a:spcBef>
                <a:spcPts val="1000"/>
              </a:spcBef>
              <a:defRPr sz="1400">
                <a:solidFill>
                  <a:srgbClr val="0F172A"/>
                </a:solidFill>
                <a:latin typeface="Microsoft JhengHei"/>
              </a:defRPr>
            </a:pPr>
            <a:r>
              <a:t>4. B2B 帳戶全面部署 tax_id 統一編號欄位，精準收束客資。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120640" cy="4572000"/>
          </a:xfrm>
          <a:prstGeom prst="roundRect">
            <a:avLst/>
          </a:prstGeom>
          <a:solidFill>
            <a:srgbClr val="F0F8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554480"/>
            <a:ext cx="4572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284C7"/>
                </a:solidFill>
                <a:latin typeface="Microsoft JhengHei"/>
              </a:defRPr>
            </a:pPr>
            <a:r>
              <a:t>⚙️ 模組 B：地端算力與 RAG 技術鏈</a:t>
            </a:r>
          </a:p>
          <a:p>
            <a:pPr>
              <a:spcBef>
                <a:spcPts val="1000"/>
              </a:spcBef>
              <a:defRPr sz="1400">
                <a:solidFill>
                  <a:srgbClr val="0F172A"/>
                </a:solidFill>
                <a:latin typeface="Microsoft JhengHei"/>
              </a:defRPr>
            </a:pPr>
            <a:r>
              <a:t>1. 地端 Local LLM 優先採用 Apache 2.0 / MIT 安全開源授權。</a:t>
            </a:r>
          </a:p>
          <a:p>
            <a:pPr>
              <a:spcBef>
                <a:spcPts val="1000"/>
              </a:spcBef>
              <a:defRPr sz="1400">
                <a:solidFill>
                  <a:srgbClr val="0F172A"/>
                </a:solidFill>
                <a:latin typeface="Microsoft JhengHei"/>
              </a:defRPr>
            </a:pPr>
            <a:r>
              <a:t>2. Qwen 2.5 7B 具備 128K context window，繁中能力頂級。</a:t>
            </a:r>
          </a:p>
          <a:p>
            <a:pPr>
              <a:spcBef>
                <a:spcPts val="1000"/>
              </a:spcBef>
              <a:defRPr sz="1400">
                <a:solidFill>
                  <a:srgbClr val="0F172A"/>
                </a:solidFill>
                <a:latin typeface="Microsoft JhengHei"/>
              </a:defRPr>
            </a:pPr>
            <a:r>
              <a:t>3. Vector DB 採用 SQLite 驅動的 ChromaDB 實現零運維嵌入。</a:t>
            </a:r>
          </a:p>
          <a:p>
            <a:pPr>
              <a:spcBef>
                <a:spcPts val="1000"/>
              </a:spcBef>
              <a:defRPr sz="1400">
                <a:solidFill>
                  <a:srgbClr val="0F172A"/>
                </a:solidFill>
                <a:latin typeface="Microsoft JhengHei"/>
              </a:defRPr>
            </a:pPr>
            <a:r>
              <a:t>4. LlamaIndex 框架整合 Ollama API，提供 WikiLLM 完美對接。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5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88952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57857"/>
                </a:solidFill>
                <a:latin typeface="Microsoft JhengHei"/>
              </a:defRPr>
            </a:pPr>
            <a:r>
              <a:t>三、 本土電子簽章三強 SEO / GEO 量化看板</a:t>
            </a:r>
          </a:p>
        </p:txBody>
      </p:sp>
      <p:pic>
        <p:nvPicPr>
          <p:cNvPr id="5" name="Picture 4" descr="bzs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347472"/>
            <a:ext cx="1828800" cy="36576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0" y="1645920"/>
          <a:ext cx="9445752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286000"/>
                <a:gridCol w="2286000"/>
                <a:gridCol w="2313432"/>
              </a:tblGrid>
              <a:tr h="10287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品牌名稱</a:t>
                      </a:r>
                    </a:p>
                  </a:txBody>
                  <a:tcPr>
                    <a:solidFill>
                      <a:srgbClr val="0578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技術 SEO 評分</a:t>
                      </a:r>
                    </a:p>
                  </a:txBody>
                  <a:tcPr>
                    <a:solidFill>
                      <a:srgbClr val="0578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GEO 能見度</a:t>
                      </a:r>
                    </a:p>
                  </a:txBody>
                  <a:tcPr>
                    <a:solidFill>
                      <a:srgbClr val="0578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Microsoft JhengHei"/>
                        </a:defRPr>
                      </a:pPr>
                      <a:r>
                        <a:t>授權/安全資格</a:t>
                      </a:r>
                    </a:p>
                  </a:txBody>
                  <a:tcPr>
                    <a:solidFill>
                      <a:srgbClr val="057857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點點簽 (DottedSign)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80 / 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5.5 / 10 (中)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AATL, ISO 27001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律果簽 (LegalSign)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75 / 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5.0 / 10 (中)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F172A"/>
                          </a:solidFill>
                          <a:latin typeface="Microsoft JhengHei"/>
                        </a:defRPr>
                      </a:pPr>
                      <a:r>
                        <a:t>數發部能量登錄, 憑證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57857"/>
                          </a:solidFill>
                          <a:latin typeface="Microsoft JhengHei"/>
                        </a:defRPr>
                      </a:pPr>
                      <a:r>
                        <a:t>好好簽 (BreezySign) [Staging]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57857"/>
                          </a:solidFill>
                          <a:latin typeface="Microsoft JhengHei"/>
                        </a:defRPr>
                      </a:pPr>
                      <a:r>
                        <a:t>85 / 100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57857"/>
                          </a:solidFill>
                          <a:latin typeface="Microsoft JhengHei"/>
                        </a:defRPr>
                      </a:pPr>
                      <a:r>
                        <a:t>7.0 / 10 (高)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057857"/>
                          </a:solidFill>
                          <a:latin typeface="Microsoft JhengHei"/>
                        </a:defRPr>
                      </a:pPr>
                      <a:r>
                        <a:t>能量登錄, 100% 樹狀大綱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5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2188952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57857"/>
                </a:solidFill>
                <a:latin typeface="Microsoft JhengHei"/>
              </a:defRPr>
            </a:pPr>
            <a:r>
              <a:t>四、 BreezyBrain 地端大腦非同步自動化派單流程</a:t>
            </a:r>
          </a:p>
        </p:txBody>
      </p:sp>
      <p:pic>
        <p:nvPicPr>
          <p:cNvPr id="5" name="Picture 4" descr="bzs-logo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347472"/>
            <a:ext cx="1828800" cy="3657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914400" y="2011680"/>
            <a:ext cx="2926080" cy="32004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27432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800">
                <a:solidFill>
                  <a:srgbClr val="057857"/>
                </a:solidFill>
              </a:defRPr>
            </a:pPr>
            <a:r>
              <a:t>1. 數據輸入端</a:t>
            </a:r>
            <a:br/>
            <a:r>
              <a:t>(BreezyCRM)</a:t>
            </a:r>
          </a:p>
          <a:p>
            <a:br/>
            <a:pPr algn="ctr">
              <a:defRPr sz="1300">
                <a:solidFill>
                  <a:srgbClr val="0F172A"/>
                </a:solidFill>
              </a:defRPr>
            </a:pPr>
            <a:r>
              <a:t>名片掃描 / 外部留單</a:t>
            </a:r>
          </a:p>
          <a:p>
            <a:pPr algn="ctr">
              <a:defRPr sz="1300">
                <a:solidFill>
                  <a:srgbClr val="0F172A"/>
                </a:solidFill>
              </a:defRPr>
            </a:pPr>
            <a:r>
              <a:t>自動 OCR 去重</a:t>
            </a:r>
          </a:p>
          <a:p>
            <a:pPr algn="ctr">
              <a:defRPr sz="1300">
                <a:solidFill>
                  <a:srgbClr val="0F172A"/>
                </a:solidFill>
              </a:defRPr>
            </a:pPr>
            <a:r>
              <a:t>稅號 tax_id 自動匹配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023360" y="3291840"/>
            <a:ext cx="548640" cy="457200"/>
          </a:xfrm>
          <a:prstGeom prst="rightArrow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663440" y="2011680"/>
            <a:ext cx="2926080" cy="3200400"/>
          </a:xfrm>
          <a:prstGeom prst="roundRect">
            <a:avLst/>
          </a:prstGeom>
          <a:solidFill>
            <a:srgbClr val="F0F8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2194560"/>
            <a:ext cx="27432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800">
                <a:solidFill>
                  <a:srgbClr val="0284C7"/>
                </a:solidFill>
              </a:defRPr>
            </a:pPr>
            <a:r>
              <a:t>2. 智能大腦端</a:t>
            </a:r>
            <a:br/>
            <a:r>
              <a:t>(Local LLM)</a:t>
            </a:r>
          </a:p>
          <a:p>
            <a:br/>
            <a:pPr algn="ctr">
              <a:defRPr sz="1300">
                <a:solidFill>
                  <a:srgbClr val="0F172A"/>
                </a:solidFill>
              </a:defRPr>
            </a:pPr>
            <a:r>
              <a:t>Qwen 2.5 7B (Apache 2.0)</a:t>
            </a:r>
          </a:p>
          <a:p>
            <a:pPr algn="ctr">
              <a:defRPr sz="1300">
                <a:solidFill>
                  <a:srgbClr val="0F172A"/>
                </a:solidFill>
              </a:defRPr>
            </a:pPr>
            <a:r>
              <a:t>RAG 範本語意匹配</a:t>
            </a:r>
          </a:p>
          <a:p>
            <a:pPr algn="ctr">
              <a:defRPr sz="1300">
                <a:solidFill>
                  <a:srgbClr val="0F172A"/>
                </a:solidFill>
              </a:defRPr>
            </a:pPr>
            <a:r>
              <a:t>自動提取合約變數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772400" y="3291840"/>
            <a:ext cx="548640" cy="457200"/>
          </a:xfrm>
          <a:prstGeom prst="rightArrow">
            <a:avLst/>
          </a:prstGeom>
          <a:solidFill>
            <a:srgbClr val="05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12480" y="2011680"/>
            <a:ext cx="2926080" cy="32004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2194560"/>
            <a:ext cx="27432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800">
                <a:solidFill>
                  <a:srgbClr val="057857"/>
                </a:solidFill>
              </a:defRPr>
            </a:pPr>
            <a:r>
              <a:t>3. 完簽歸檔端</a:t>
            </a:r>
            <a:br/>
            <a:r>
              <a:t>(BreezyKM)</a:t>
            </a:r>
          </a:p>
          <a:p>
            <a:br/>
            <a:pPr algn="ctr">
              <a:defRPr sz="1300">
                <a:solidFill>
                  <a:srgbClr val="0F172A"/>
                </a:solidFill>
              </a:defRPr>
            </a:pPr>
            <a:r>
              <a:t>BreezySign API 完簽</a:t>
            </a:r>
          </a:p>
          <a:p>
            <a:pPr algn="ctr">
              <a:defRPr sz="1300">
                <a:solidFill>
                  <a:srgbClr val="0F172A"/>
                </a:solidFill>
              </a:defRPr>
            </a:pPr>
            <a:r>
              <a:t>WikiLLM 知識庫攝入</a:t>
            </a:r>
          </a:p>
          <a:p>
            <a:pPr algn="ctr">
              <a:defRPr sz="1300">
                <a:solidFill>
                  <a:srgbClr val="0F172A"/>
                </a:solidFill>
              </a:defRPr>
            </a:pPr>
            <a:r>
              <a:t>ChromaDB 向量化歸檔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