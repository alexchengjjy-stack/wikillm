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B923C"/>
                </a:solidFill>
              </a:defRPr>
            </a:pPr>
            <a:r>
              <a:t>BreezyBrain (好好腦)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下一代 AI 企業工作流操作系統 (16:9 向量架構版)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Microsoft JhengHei"/>
              </a:defRPr>
            </a:pPr>
            <a:r>
              <a:t>一、 BreezyBrain 六大支柱系統架構圖 (Native 16:9 Vector)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5486400"/>
            <a:ext cx="10360152" cy="731520"/>
          </a:xfrm>
          <a:prstGeom prst="roundRect">
            <a:avLst/>
          </a:prstGeom>
          <a:solidFill>
            <a:srgbClr val="19284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Local LLM AI Model (Central Enterprise Brain)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612392" cy="3840480"/>
          </a:xfrm>
          <a:prstGeom prst="roundRect">
            <a:avLst/>
          </a:prstGeom>
          <a:noFill/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75569"/>
                </a:solidFill>
                <a:latin typeface="Arial"/>
              </a:defRPr>
            </a:pPr>
            <a:r>
              <a:t>BCR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OCR Sensing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468880"/>
            <a:ext cx="1429512" cy="7315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Business Card OCR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337560"/>
            <a:ext cx="1429512" cy="7315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Auto Data Sync</a:t>
            </a:r>
          </a:p>
        </p:txBody>
      </p:sp>
      <p:sp>
        <p:nvSpPr>
          <p:cNvPr id="8" name="Down Arrow 7"/>
          <p:cNvSpPr/>
          <p:nvPr/>
        </p:nvSpPr>
        <p:spPr>
          <a:xfrm>
            <a:off x="1629156" y="5257800"/>
            <a:ext cx="182880" cy="18288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63952" y="1371600"/>
            <a:ext cx="1612392" cy="3840480"/>
          </a:xfrm>
          <a:prstGeom prst="roundRect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3952" y="146304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34155"/>
                </a:solidFill>
                <a:latin typeface="Arial"/>
              </a:defRPr>
            </a:pPr>
            <a:r>
              <a:t>CRM</a:t>
            </a:r>
          </a:p>
          <a:p>
            <a:pPr algn="ctr">
              <a:defRPr sz="1200">
                <a:solidFill>
                  <a:srgbClr val="334155"/>
                </a:solidFill>
                <a:latin typeface="Arial"/>
              </a:defRPr>
            </a:pPr>
            <a:r>
              <a:t>Pipedrive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5392" y="2468880"/>
            <a:ext cx="1429512" cy="7315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Contacts &amp; Leads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5392" y="3337560"/>
            <a:ext cx="1429512" cy="7315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Deal Pipeline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378708" y="5257800"/>
            <a:ext cx="182880" cy="18288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3504" y="1371600"/>
            <a:ext cx="1612392" cy="3840480"/>
          </a:xfrm>
          <a:prstGeom prst="roundRect">
            <a:avLst/>
          </a:prstGeom>
          <a:noFill/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146304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Arial"/>
              </a:defRPr>
            </a:pPr>
            <a:r>
              <a:t>CLM</a:t>
            </a:r>
          </a:p>
          <a:p>
            <a:pPr algn="ctr">
              <a:defRPr sz="1200">
                <a:solidFill>
                  <a:srgbClr val="4ADE80"/>
                </a:solidFill>
                <a:latin typeface="Arial"/>
              </a:defRPr>
            </a:pPr>
            <a:r>
              <a:t>doc-cowork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4944" y="2468880"/>
            <a:ext cx="1429512" cy="7315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MS-Word / Google Doc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4944" y="3337560"/>
            <a:ext cx="1429512" cy="7315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Collaborative Editing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128260" y="5257800"/>
            <a:ext cx="182880" cy="182880"/>
          </a:xfrm>
          <a:prstGeom prst="down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3056" y="1371600"/>
            <a:ext cx="1612392" cy="3840480"/>
          </a:xfrm>
          <a:prstGeom prst="roundRect">
            <a:avLst/>
          </a:prstGeom>
          <a:noFill/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146304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Arial"/>
              </a:defRPr>
            </a:pPr>
            <a:r>
              <a:t>BPM</a:t>
            </a:r>
          </a:p>
          <a:p>
            <a:pPr algn="ctr">
              <a:defRPr sz="1200">
                <a:solidFill>
                  <a:srgbClr val="38BDF8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2468880"/>
            <a:ext cx="1429512" cy="7315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All Departments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3337560"/>
            <a:ext cx="1429512" cy="7315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AI-Review Routing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877812" y="5257800"/>
            <a:ext cx="182880" cy="18288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12608" y="1371600"/>
            <a:ext cx="1612392" cy="3840480"/>
          </a:xfrm>
          <a:prstGeom prst="roundRect">
            <a:avLst/>
          </a:prstGeom>
          <a:noFill/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12608" y="146304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B923C"/>
                </a:solidFill>
                <a:latin typeface="Arial"/>
              </a:defRPr>
            </a:pPr>
            <a:r>
              <a:t>ESign</a:t>
            </a:r>
          </a:p>
          <a:p>
            <a:pPr algn="ctr">
              <a:defRPr sz="1200">
                <a:solidFill>
                  <a:srgbClr val="FB923C"/>
                </a:solidFill>
                <a:latin typeface="Arial"/>
              </a:defRPr>
            </a:pPr>
            <a:r>
              <a:t>BreezySign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4048" y="2468880"/>
            <a:ext cx="1429512" cy="7315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Sales &amp; Admin 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4048" y="3337560"/>
            <a:ext cx="1429512" cy="7315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Call BZS API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627364" y="5257800"/>
            <a:ext cx="182880" cy="182880"/>
          </a:xfrm>
          <a:prstGeom prst="downArrow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62160" y="1371600"/>
            <a:ext cx="1612392" cy="3840480"/>
          </a:xfrm>
          <a:prstGeom prst="roundRect">
            <a:avLst/>
          </a:prstGeom>
          <a:noFill/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2160" y="1463040"/>
            <a:ext cx="1612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472B6"/>
                </a:solidFill>
                <a:latin typeface="Arial"/>
              </a:defRPr>
            </a:pPr>
            <a:r>
              <a:t>KM</a:t>
            </a:r>
          </a:p>
          <a:p>
            <a:pPr algn="ctr">
              <a:defRPr sz="1200">
                <a:solidFill>
                  <a:srgbClr val="F472B6"/>
                </a:solidFill>
                <a:latin typeface="Arial"/>
              </a:defRPr>
            </a:pPr>
            <a:r>
              <a:t>Files Manager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53600" y="2468880"/>
            <a:ext cx="1429512" cy="73152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RAW Repository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53600" y="3337560"/>
            <a:ext cx="1429512" cy="73152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Obsidian Graphify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0376916" y="5257800"/>
            <a:ext cx="182880" cy="182880"/>
          </a:xfrm>
          <a:prstGeom prst="downArrow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