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785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zs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2386584" cy="4754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0" y="256032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Microsoft JhengHei"/>
              </a:defRPr>
            </a:pPr>
            <a:r>
              <a:t>BreezySign 好好簽 ． 2026H2 跨部門執行計畫</a:t>
            </a:r>
          </a:p>
          <a:p>
            <a:pPr>
              <a:spcBef>
                <a:spcPts val="1200"/>
              </a:spcBef>
              <a:defRPr sz="2000">
                <a:solidFill>
                  <a:srgbClr val="C8E6D7"/>
                </a:solidFill>
                <a:latin typeface="Microsoft JhengHei"/>
              </a:defRPr>
            </a:pPr>
            <a:r>
              <a:t>PLG + SLG 雙軌成長戰術與財務、產品、技術合規行動方案</a:t>
            </a:r>
          </a:p>
          <a:p>
            <a:pPr>
              <a:spcBef>
                <a:spcPts val="4000"/>
              </a:spcBef>
              <a:defRPr sz="1200" i="1">
                <a:solidFill>
                  <a:srgbClr val="FFFFFF"/>
                </a:solidFill>
                <a:latin typeface="Microsoft JhengHei"/>
              </a:defRPr>
            </a:pPr>
            <a:r>
              <a:t>蒙恬科技 (PenPower) 好好簽跨部門成果驗證小組 ． 2026H2 (討論稿)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9728" cy="548640"/>
          </a:xfrm>
          <a:prstGeom prst="rect">
            <a:avLst/>
          </a:prstGeom>
          <a:solidFill>
            <a:srgbClr val="05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3200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57857"/>
                </a:solidFill>
                <a:latin typeface="Microsoft JhengHei"/>
              </a:defRPr>
            </a:pPr>
            <a:r>
              <a:t>一、 核心戰略定位：PLG 與 SLG 雙軌並進</a:t>
            </a:r>
          </a:p>
        </p:txBody>
      </p:sp>
      <p:pic>
        <p:nvPicPr>
          <p:cNvPr id="4" name="Picture 3" descr="bzs-logo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347472"/>
            <a:ext cx="1828800" cy="3657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371600"/>
            <a:ext cx="5120640" cy="457200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5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57857"/>
                </a:solidFill>
                <a:latin typeface="Microsoft JhengHei"/>
              </a:defRPr>
            </a:pPr>
            <a:r>
              <a:t>⚡ PLG (產品驅動成長) 戰術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Microsoft JhengHei"/>
              </a:defRPr>
            </a:pPr>
            <a:r>
              <a:t>引導自助轉化：鎖定中小企業與小微客群，著重低摩擦的自助式註冊與付費升級。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Microsoft JhengHei"/>
              </a:defRPr>
            </a:pPr>
            <a:r>
              <a:t>克服冷啟動 (Cold Start)：透過優化 Onboarding 引導，目標將不活躍註冊率由目前的 50%~60% 降至 35% 以下。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Microsoft JhengHei"/>
              </a:defRPr>
            </a:pPr>
            <a:r>
              <a:t>產品規格化限制：落實個人專業方案 (NT$3,000/年) 每月發送 100 份上限防線，降低變動憑證成本。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Microsoft JhengHei"/>
              </a:defRPr>
            </a:pPr>
            <a:r>
              <a:t>超額加購憑證包：提供 100 份後超額加購 (NT$30/份)，享有高達 94.4% 的毛利率，將大戶化為利潤引擎。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371600"/>
            <a:ext cx="5120640" cy="4572000"/>
          </a:xfrm>
          <a:prstGeom prst="roundRect">
            <a:avLst/>
          </a:prstGeom>
          <a:solidFill>
            <a:srgbClr val="F0F8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55448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284C7"/>
                </a:solidFill>
                <a:latin typeface="Microsoft JhengHei"/>
              </a:defRPr>
            </a:pPr>
            <a:r>
              <a:t>🤝 SLG (銷售驅動成長) 戰術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Microsoft JhengHei"/>
              </a:defRPr>
            </a:pPr>
            <a:r>
              <a:t>包抄競品大戶：集火每年合約簽署 5,000~20,000 份以上的大型客戶，對抗點點簽漲價與以件計費政策。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Microsoft JhengHei"/>
              </a:defRPr>
            </a:pPr>
            <a:r>
              <a:t>專案無縫轉移特惠：針對競品流失之年簽大戶，主動提供首年 8 折或前 3 個月免費體驗，加速簽約決策。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Microsoft JhengHei"/>
              </a:defRPr>
            </a:pPr>
            <a:r>
              <a:t>SI 通路對接：深化與百加 (101 BPM)、統一數網等 SI 通路的轉介合作，擴大業務觸角。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Microsoft JhengHei"/>
              </a:defRPr>
            </a:pPr>
            <a:r>
              <a:t>鼎新電腦生態系整合：將電子簽章 API 深度整合至鼎新諸葛 AI 平台，鎖定製造與零售業核心流程。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9728" cy="548640"/>
          </a:xfrm>
          <a:prstGeom prst="rect">
            <a:avLst/>
          </a:prstGeom>
          <a:solidFill>
            <a:srgbClr val="05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3200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57857"/>
                </a:solidFill>
                <a:latin typeface="Microsoft JhengHei"/>
              </a:defRPr>
            </a:pPr>
            <a:r>
              <a:t>二、 業務銷售與客戶成功 (Sales &amp; CSM) 計畫</a:t>
            </a:r>
          </a:p>
        </p:txBody>
      </p:sp>
      <p:pic>
        <p:nvPicPr>
          <p:cNvPr id="4" name="Picture 3" descr="bzs-logo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347472"/>
            <a:ext cx="1828800" cy="3657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371600"/>
            <a:ext cx="3291840" cy="457200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5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57857"/>
                </a:solidFill>
                <a:latin typeface="Microsoft JhengHei"/>
              </a:defRPr>
            </a:pPr>
            <a:r>
              <a:t>🎯 H2 業務核心指標</a:t>
            </a:r>
          </a:p>
          <a:p>
            <a:pPr>
              <a:spcBef>
                <a:spcPts val="600"/>
              </a:spcBef>
              <a:defRPr sz="1150">
                <a:solidFill>
                  <a:srgbClr val="0F172A"/>
                </a:solidFill>
                <a:latin typeface="Microsoft JhengHei"/>
              </a:defRPr>
            </a:pPr>
            <a:r>
              <a:t>● 付費公司數衝刺 1,750 家：</a:t>
            </a:r>
          </a:p>
          <a:p>
            <a:pPr>
              <a:spcBef>
                <a:spcPts val="600"/>
              </a:spcBef>
              <a:defRPr sz="1150">
                <a:solidFill>
                  <a:srgbClr val="0F172A"/>
                </a:solidFill>
                <a:latin typeface="Microsoft JhengHei"/>
              </a:defRPr>
            </a:pPr>
            <a:r>
              <a:t>  (5月實績為 397 家，需淨增 1,353 家，成長率 340.8%)</a:t>
            </a:r>
          </a:p>
          <a:p>
            <a:pPr>
              <a:spcBef>
                <a:spcPts val="600"/>
              </a:spcBef>
              <a:defRPr sz="1150">
                <a:solidFill>
                  <a:srgbClr val="0F172A"/>
                </a:solidFill>
                <a:latin typeface="Microsoft JhengHei"/>
              </a:defRPr>
            </a:pPr>
            <a:r>
              <a:t>● 舊客年約留存率維持 95% 以上：</a:t>
            </a:r>
          </a:p>
          <a:p>
            <a:pPr>
              <a:spcBef>
                <a:spcPts val="600"/>
              </a:spcBef>
              <a:defRPr sz="1150">
                <a:solidFill>
                  <a:srgbClr val="0F172A"/>
                </a:solidFill>
                <a:latin typeface="Microsoft JhengHei"/>
              </a:defRPr>
            </a:pPr>
            <a:r>
              <a:t>  (1月自動續約收入佔營收 42.4%，舊客維護乃穩定雪球)</a:t>
            </a:r>
          </a:p>
          <a:p>
            <a:pPr>
              <a:spcBef>
                <a:spcPts val="600"/>
              </a:spcBef>
              <a:defRPr sz="1150">
                <a:solidFill>
                  <a:srgbClr val="0F172A"/>
                </a:solidFill>
                <a:latin typeface="Microsoft JhengHei"/>
              </a:defRPr>
            </a:pPr>
            <a:r>
              <a:t>● 點點簽到期大戶銷售轉化率達 75% 以上</a:t>
            </a:r>
          </a:p>
          <a:p>
            <a:pPr>
              <a:spcBef>
                <a:spcPts val="600"/>
              </a:spcBef>
              <a:defRPr sz="1150">
                <a:solidFill>
                  <a:srgbClr val="0F172A"/>
                </a:solidFill>
                <a:latin typeface="Microsoft JhengHei"/>
              </a:defRPr>
            </a:pPr>
            <a:r>
              <a:t>● 台中浸信會等大戶簽訂「多年期預付款認列合約」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1371600"/>
            <a:ext cx="7040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57857"/>
                </a:solidFill>
                <a:latin typeface="Microsoft JhengHei"/>
              </a:defRPr>
            </a:pPr>
            <a:r>
              <a:t>📋 業務核心執行策略</a:t>
            </a:r>
          </a:p>
          <a:p>
            <a:pPr>
              <a:spcBef>
                <a:spcPts val="12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1. 點點簽大戶無縫轉移特惠：提供首年 8 折或 3 個月體驗期，降低移轉決策阻力。</a:t>
            </a:r>
          </a:p>
          <a:p>
            <a:pPr>
              <a:spcBef>
                <a:spcPts val="12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2. 百加/鼎新通路商機對接：緊密跟進 ISV 通路，協同 SI 顧問費與分潤月結，理順合作機制。</a:t>
            </a:r>
          </a:p>
          <a:p>
            <a:pPr>
              <a:spcBef>
                <a:spcPts val="12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3. CSM 主動客戶防禦：對已開通用戶實施 Cold Start 二次啟用跟進，降低新註冊不活躍率。</a:t>
            </a:r>
          </a:p>
          <a:p>
            <a:pPr>
              <a:spcBef>
                <a:spcPts val="12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4. 大戶多年期長約收單：以 2~3 年長約提供固定費率優惠，鎖定客戶年繳金流，行政上安全收受預付款，並按會計年度逐年遞延認列為年租 MRR 營收。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9728" cy="548640"/>
          </a:xfrm>
          <a:prstGeom prst="rect">
            <a:avLst/>
          </a:prstGeom>
          <a:solidFill>
            <a:srgbClr val="05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3200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57857"/>
                </a:solidFill>
                <a:latin typeface="Microsoft JhengHei"/>
              </a:defRPr>
            </a:pPr>
            <a:r>
              <a:t>三、 行銷推廣 (Marketing) H2 策略與成效</a:t>
            </a:r>
          </a:p>
        </p:txBody>
      </p:sp>
      <p:pic>
        <p:nvPicPr>
          <p:cNvPr id="4" name="Picture 3" descr="bzs-logo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347472"/>
            <a:ext cx="1828800" cy="3657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371600"/>
            <a:ext cx="5120640" cy="4572000"/>
          </a:xfrm>
          <a:prstGeom prst="roundRect">
            <a:avLst/>
          </a:prstGeom>
          <a:solidFill>
            <a:srgbClr val="F0F8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284C7"/>
                </a:solidFill>
                <a:latin typeface="Microsoft JhengHei"/>
              </a:defRPr>
            </a:pPr>
            <a:r>
              <a:t>📈 實績指標與投資報酬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Microsoft JhengHei"/>
              </a:defRPr>
            </a:pPr>
            <a:r>
              <a:t>● 超高投資報酬：窄口徑 LTV:CAC 達 67 倍，擴張空間極佳。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Microsoft JhengHei"/>
              </a:defRPr>
            </a:pPr>
            <a:r>
              <a:t>● 廣告投放效益：2026 上半年品牌詞防禦 CPC 成本約 $20-$22 USD，轉換高，回報顯著。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Microsoft JhengHei"/>
              </a:defRPr>
            </a:pPr>
            <a:r>
              <a:t>● 本土公信力槓桿：將數發部「113電簽0008」白名單背書轉為 GEO 引用之首要權威信號。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Microsoft JhengHei"/>
              </a:defRPr>
            </a:pPr>
            <a:r>
              <a:t>● AI GEO 能見度突破：正式同步首頁與 Footer 聲明至正式站後，好好簽被列為 AI 搜尋推薦首選，能見度由 2.5 狂飆至 7.5+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371600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284C7"/>
                </a:solidFill>
                <a:latin typeface="Microsoft JhengHei"/>
              </a:defRPr>
            </a:pPr>
            <a:r>
              <a:t>📣 行銷核心執行戰術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1. 對手著陸頁面 (Competitor Landing Page)：集火點點簽「件數計量與強制漲價」痛點，精準搶佔搜尋流失流量。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2. 啟動品牌詞廣告防禦：立即針對「BreezySign」和「好好簽」投放防禦型廣告，防止流量被競品惡意攔截。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3. 本地化合規行銷：主打中華電信 AATL 憑證、聲明錄影防賴等特色，突出本土資安防禦與台灣法規合規優勢。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4. 公部門與 SI 聯合推案：製作公部門專用 EEAT 開發與 ISV 合作推廣文案，拓展 B2B 藍海。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9728" cy="548640"/>
          </a:xfrm>
          <a:prstGeom prst="rect">
            <a:avLst/>
          </a:prstGeom>
          <a:solidFill>
            <a:srgbClr val="05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3200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57857"/>
                </a:solidFill>
                <a:latin typeface="Microsoft JhengHei"/>
              </a:defRPr>
            </a:pPr>
            <a:r>
              <a:t>四、 產品經理與專案管理 (Product &amp; PM) 規劃</a:t>
            </a:r>
          </a:p>
        </p:txBody>
      </p:sp>
      <p:pic>
        <p:nvPicPr>
          <p:cNvPr id="4" name="Picture 3" descr="bzs-logo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347472"/>
            <a:ext cx="1828800" cy="365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371600"/>
            <a:ext cx="1072591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057857"/>
                </a:solidFill>
                <a:latin typeface="Microsoft JhengHei"/>
              </a:defRPr>
            </a:pPr>
            <a:r>
              <a:t>🛡️ 實施「大戶定價安全防線」與憑證加購包</a:t>
            </a:r>
          </a:p>
          <a:p>
            <a:pPr>
              <a:spcBef>
                <a:spcPts val="400"/>
              </a:spcBef>
              <a:defRPr sz="1250">
                <a:solidFill>
                  <a:srgbClr val="0F172A"/>
                </a:solidFill>
                <a:latin typeface="Microsoft JhengHei"/>
              </a:defRPr>
            </a:pPr>
            <a:r>
              <a:t>● 限制專業方案：當月發送合約額度硬性限制 100 份 / 月 (保護變動憑證成本)。</a:t>
            </a:r>
            <a:br/>
            <a:r>
              <a:t>● 超額加購包：達限制後阻斷，每份收取 NT$30 (最少購買5份)。此機制在常規混合場景下可創造高達 94.4% 的毛利率。</a:t>
            </a:r>
          </a:p>
          <a:p>
            <a:pPr>
              <a:spcBef>
                <a:spcPts val="1200"/>
              </a:spcBef>
              <a:defRPr sz="1600" b="1">
                <a:solidFill>
                  <a:srgbClr val="057857"/>
                </a:solidFill>
                <a:latin typeface="Microsoft JhengHei"/>
              </a:defRPr>
            </a:pPr>
            <a:r>
              <a:t>🔑 重構「Unify 範本共用權限」角色分層</a:t>
            </a:r>
          </a:p>
          <a:p>
            <a:pPr>
              <a:spcBef>
                <a:spcPts val="400"/>
              </a:spcBef>
              <a:defRPr sz="1250">
                <a:solidFill>
                  <a:srgbClr val="0F172A"/>
                </a:solidFill>
                <a:latin typeface="Microsoft JhengHei"/>
              </a:defRPr>
            </a:pPr>
            <a:r>
              <a:t>● 權限分層設定：改變過去全開或全關模式，主帳號可將「範本管理與共享」授權給指定管理員。</a:t>
            </a:r>
            <a:br/>
            <a:r>
              <a:t>● 保留個人範本：子帳號既能共享企業範本，仍能自建私有的個人範本夾，完全滿足太平洋旅行社等多帳號情境。</a:t>
            </a:r>
          </a:p>
          <a:p>
            <a:pPr>
              <a:spcBef>
                <a:spcPts val="1200"/>
              </a:spcBef>
              <a:defRPr sz="1600" b="1">
                <a:solidFill>
                  <a:srgbClr val="057857"/>
                </a:solidFill>
                <a:latin typeface="Microsoft JhengHei"/>
              </a:defRPr>
            </a:pPr>
            <a:r>
              <a:t>⚡ 優化「LINE/簡訊傳簽」極簡流程</a:t>
            </a:r>
          </a:p>
          <a:p>
            <a:pPr>
              <a:spcBef>
                <a:spcPts val="400"/>
              </a:spcBef>
              <a:defRPr sz="1250">
                <a:solidFill>
                  <a:srgbClr val="0F172A"/>
                </a:solidFill>
                <a:latin typeface="Microsoft JhengHei"/>
              </a:defRPr>
            </a:pPr>
            <a:r>
              <a:t>● 移除冗餘流程：免除傳簽時需「填入發起人手機號碼」之規定。</a:t>
            </a:r>
            <a:br/>
            <a:r>
              <a:t>● 一鍵複製連結：優化為一鍵生成並複製 LINE/簡訊簽署連結，在行動端減少輸入摩擦，大力吸引金融貸款及旅行社客群。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9728" cy="548640"/>
          </a:xfrm>
          <a:prstGeom prst="rect">
            <a:avLst/>
          </a:prstGeom>
          <a:solidFill>
            <a:srgbClr val="05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3200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57857"/>
                </a:solidFill>
                <a:latin typeface="Microsoft JhengHei"/>
              </a:defRPr>
            </a:pPr>
            <a:r>
              <a:t>五、 技術工程 (RD / Engineering) 執行計畫</a:t>
            </a:r>
          </a:p>
        </p:txBody>
      </p:sp>
      <p:pic>
        <p:nvPicPr>
          <p:cNvPr id="4" name="Picture 3" descr="bzs-logo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347472"/>
            <a:ext cx="1828800" cy="365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371600"/>
            <a:ext cx="1072591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057857"/>
                </a:solidFill>
                <a:latin typeface="Microsoft JhengHei"/>
              </a:defRPr>
            </a:pPr>
            <a:r>
              <a:t>🌐 正式站首頁 DOM Heading 重構與 SEO/AEO 優化</a:t>
            </a:r>
          </a:p>
          <a:p>
            <a:pPr>
              <a:spcBef>
                <a:spcPts val="400"/>
              </a:spcBef>
              <a:defRPr sz="1250">
                <a:solidFill>
                  <a:srgbClr val="0F172A"/>
                </a:solidFill>
                <a:latin typeface="Microsoft JhengHei"/>
              </a:defRPr>
            </a:pPr>
            <a:r>
              <a:t>● DOM 大綱重構：首頁四大區塊主標題由 &lt;h3&gt; 修正為 &lt;h2&gt;，子描述順延為 &lt;h3&gt;，達成 HTML5 Outlining 完美巢狀，澄清爬蟲誤判，使正式站 Google PageSpeed 技術分數達 88 ~ 95 分。</a:t>
            </a:r>
            <a:br/>
            <a:r>
              <a:t>● 價格 Schema 同步：發布 Organization 與 Product JSON-LD 結構化資料，嵌入 NT$3,000 ~ 15,000 區間與評分格式，方便 AI 精準抓取。</a:t>
            </a:r>
          </a:p>
          <a:p>
            <a:pPr>
              <a:spcBef>
                <a:spcPts val="1200"/>
              </a:spcBef>
              <a:defRPr sz="1600" b="1">
                <a:solidFill>
                  <a:srgbClr val="057857"/>
                </a:solidFill>
                <a:latin typeface="Microsoft JhengHei"/>
              </a:defRPr>
            </a:pPr>
            <a:r>
              <a:t>📂 公開表單「附件高品質打包下載」功能開發</a:t>
            </a:r>
          </a:p>
          <a:p>
            <a:pPr>
              <a:spcBef>
                <a:spcPts val="400"/>
              </a:spcBef>
              <a:defRPr sz="1250">
                <a:solidFill>
                  <a:srgbClr val="0F172A"/>
                </a:solidFill>
                <a:latin typeface="Microsoft JhengHei"/>
              </a:defRPr>
            </a:pPr>
            <a:r>
              <a:t>● 重構附件上傳：因應夢曦文化等大戶需求，除將身分證等附件合併於完簽 PDF 外，後台提供「一鍵單獨打包下載原始高品質證件」功能，以便司法存證對照與存查。</a:t>
            </a:r>
          </a:p>
          <a:p>
            <a:pPr>
              <a:spcBef>
                <a:spcPts val="1200"/>
              </a:spcBef>
              <a:defRPr sz="1600" b="1">
                <a:solidFill>
                  <a:srgbClr val="057857"/>
                </a:solidFill>
                <a:latin typeface="Microsoft JhengHei"/>
              </a:defRPr>
            </a:pPr>
            <a:r>
              <a:t>⚙️ 自動化 API 測試沙盒 (Sandbox) 部署</a:t>
            </a:r>
          </a:p>
          <a:p>
            <a:pPr>
              <a:spcBef>
                <a:spcPts val="400"/>
              </a:spcBef>
              <a:defRPr sz="1250">
                <a:solidFill>
                  <a:srgbClr val="0F172A"/>
                </a:solidFill>
                <a:latin typeface="Microsoft JhengHei"/>
              </a:defRPr>
            </a:pPr>
            <a:r>
              <a:t>● 流程閉環開通：實現客戶申請 API 後，系統自動開通測試金鑰、自動發送 API 指南與 Postman Collection，大幅降低 RD 在測試支援的重複手動工時。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9728" cy="548640"/>
          </a:xfrm>
          <a:prstGeom prst="rect">
            <a:avLst/>
          </a:prstGeom>
          <a:solidFill>
            <a:srgbClr val="05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3200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57857"/>
                </a:solidFill>
                <a:latin typeface="Microsoft JhengHei"/>
              </a:defRPr>
            </a:pPr>
            <a:r>
              <a:t>六、 營運、行政與法務 (Ops &amp; Legal) 合規修訂</a:t>
            </a:r>
          </a:p>
        </p:txBody>
      </p:sp>
      <p:pic>
        <p:nvPicPr>
          <p:cNvPr id="4" name="Picture 3" descr="bzs-logo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347472"/>
            <a:ext cx="1828800" cy="365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371600"/>
            <a:ext cx="1072591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500" b="1">
                <a:solidFill>
                  <a:srgbClr val="057857"/>
                </a:solidFill>
                <a:latin typeface="Microsoft JhengHei"/>
              </a:defRPr>
            </a:pPr>
            <a:r>
              <a:t>⚖️ 用戶服務協議 (ToS) 升級要點 (對齊新版電子簽章法)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  <a:latin typeface="Microsoft JhengHei"/>
              </a:defRPr>
            </a:pPr>
            <a:r>
              <a:t>● 數位簽章推定效力：增設「技術規格與法律效力宣告」專章，明定使用中華電信 AATL 或 TWCA 憑證方案即依法構成「數位簽章」，具有「推定本人親簽」效力，一般電子簽章則由用戶承擔否認舉證責任。</a:t>
            </a:r>
            <a:br/>
            <a:r>
              <a:t>● 默示合意機制：對齊新法第 5 條精神，刪除事前明示同意書面，更新為「若未明示反對且繼續簽署，即推定同意電子簽章」默示同意，降低傳簽摩擦力。</a:t>
            </a:r>
            <a:br/>
            <a:r>
              <a:t>● LINE 傳簽合意保障：於行動端點擊「確認送出簽章」即視為獲得合理反對機會且未反對，推定同意成立法律行為。</a:t>
            </a:r>
          </a:p>
          <a:p>
            <a:pPr>
              <a:spcBef>
                <a:spcPts val="1200"/>
              </a:spcBef>
              <a:defRPr sz="1500" b="1">
                <a:solidFill>
                  <a:srgbClr val="057857"/>
                </a:solidFill>
                <a:latin typeface="Microsoft JhengHei"/>
              </a:defRPr>
            </a:pPr>
            <a:r>
              <a:t>🔒 隱私權政策 (Privacy Policy) 升級要點 (肖像個資與防線)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  <a:latin typeface="Microsoft JhengHei"/>
              </a:defRPr>
            </a:pPr>
            <a:r>
              <a:t>● 生物特徵與錄影安全專章：針對「聲明錄影簽」敏感生物個資，宣告影像僅供司法存證特定目的利用，絕不用於廣告或演算法訓練，並承諾靜態 AES-256 加密與自動銷毀期限。</a:t>
            </a:r>
            <a:br/>
            <a:r>
              <a:t>● 憑證個資嵌入披露：明確告知使用者其姓名與遮蔽憑證代碼將永久且不可逆內嵌於完簽 PDF 的技術特性。</a:t>
            </a:r>
            <a:br/>
            <a:r>
              <a:t>● 表單附件個資責任分界：明確約定公開表單上傳附件之個資蒐集主體為「發起表單之企業客戶」，好好簽平台僅提供加密傳輸與安全儲存，不承擔實質利用與外洩之連帶法律責任。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9728" cy="548640"/>
          </a:xfrm>
          <a:prstGeom prst="rect">
            <a:avLst/>
          </a:prstGeom>
          <a:solidFill>
            <a:srgbClr val="05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3200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57857"/>
                </a:solidFill>
                <a:latin typeface="Microsoft JhengHei"/>
              </a:defRPr>
            </a:pPr>
            <a:r>
              <a:t>七、 2026H2 執行時程表與關鍵里程碑</a:t>
            </a:r>
          </a:p>
        </p:txBody>
      </p:sp>
      <p:pic>
        <p:nvPicPr>
          <p:cNvPr id="4" name="Picture 3" descr="bzs-logo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347472"/>
            <a:ext cx="1828800" cy="365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371600"/>
            <a:ext cx="1072591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550" b="1">
                <a:solidFill>
                  <a:srgbClr val="057857"/>
                </a:solidFill>
                <a:latin typeface="Microsoft JhengHei"/>
              </a:defRPr>
            </a:pPr>
            <a:r>
              <a:t>📅 第三季度 (Q3) - 產品定位與合規防線發布</a:t>
            </a:r>
          </a:p>
          <a:p>
            <a:pPr>
              <a:spcBef>
                <a:spcPts val="400"/>
              </a:spcBef>
              <a:defRPr sz="1250">
                <a:solidFill>
                  <a:srgbClr val="0F172A"/>
                </a:solidFill>
                <a:latin typeface="Microsoft JhengHei"/>
              </a:defRPr>
            </a:pPr>
            <a:r>
              <a:t>● 產品面：上線「大戶定價安全防線」每月 100 份軟性硬體限制，超額憑證加購包正式開售。</a:t>
            </a:r>
            <a:br/>
            <a:r>
              <a:t>● 行銷與業務：推廣「點點簽大戶無縫轉移特惠」，對接大瀚、得勝者、星鴻等大戶 Onboarding。</a:t>
            </a:r>
            <a:br/>
            <a:r>
              <a:t>● 法務與法學：正式發布新版合規 ToS 與隱私權政策個資安全特寫專章。</a:t>
            </a:r>
          </a:p>
          <a:p>
            <a:pPr>
              <a:spcBef>
                <a:spcPts val="1200"/>
              </a:spcBef>
              <a:defRPr sz="1550" b="1">
                <a:solidFill>
                  <a:srgbClr val="057857"/>
                </a:solidFill>
                <a:latin typeface="Microsoft JhengHei"/>
              </a:defRPr>
            </a:pPr>
            <a:r>
              <a:t>📅 第四季度 (Q4) - API 自動化與生態通路全面引爆</a:t>
            </a:r>
          </a:p>
          <a:p>
            <a:pPr>
              <a:spcBef>
                <a:spcPts val="400"/>
              </a:spcBef>
              <a:defRPr sz="1250">
                <a:solidFill>
                  <a:srgbClr val="0F172A"/>
                </a:solidFill>
                <a:latin typeface="Microsoft JhengHei"/>
              </a:defRPr>
            </a:pPr>
            <a:r>
              <a:t>● 技術面：API 測試沙盒 (Sandbox) 標準化自動部署上線，公開表單「附件高品質打包下載」交付。</a:t>
            </a:r>
            <a:br/>
            <a:r>
              <a:t>● 通路面：與百加 BPM 完成系統轉介會計月結流程，深化統一數網經銷合作。</a:t>
            </a:r>
            <a:br/>
            <a:r>
              <a:t>● 行銷拓展：參加 9/18 新竹經濟部 AI Agent 應用供需媒合會上台分享，鼎新 ISV 諸葛平台對接與直播帶貨活動上線。</a:t>
            </a:r>
          </a:p>
          <a:p>
            <a:pPr>
              <a:spcBef>
                <a:spcPts val="1200"/>
              </a:spcBef>
              <a:defRPr sz="1550" b="1">
                <a:solidFill>
                  <a:srgbClr val="057857"/>
                </a:solidFill>
                <a:latin typeface="Microsoft JhengHei"/>
              </a:defRPr>
            </a:pPr>
            <a:r>
              <a:t>📅 跨部門協同核心目標 - 衝刺付費盈利臨界點</a:t>
            </a:r>
          </a:p>
          <a:p>
            <a:pPr>
              <a:spcBef>
                <a:spcPts val="400"/>
              </a:spcBef>
              <a:defRPr sz="1250">
                <a:solidFill>
                  <a:srgbClr val="0F172A"/>
                </a:solidFill>
                <a:latin typeface="Microsoft JhengHei"/>
              </a:defRPr>
            </a:pPr>
            <a:r>
              <a:t>● 財務回報與盈利：淨增長 1,353 家付費客戶，推動好好簽由底數 397 家擴張至 1,750 家付費公司數的全面盈利爆發期。</a:t>
            </a:r>
            <a:br/>
            <a:r>
              <a:t>● 自動續訂營收雪球：舊客年繳留存率維持在 95% 以上，理順多年期預收款遞延 MRR 認列流程，打造穩固的利潤大後方。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