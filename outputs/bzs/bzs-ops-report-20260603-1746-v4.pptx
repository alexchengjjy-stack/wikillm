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z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3865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BreezySign 好好簽</a:t>
            </a:r>
          </a:p>
          <a:p>
            <a:pPr>
              <a:spcBef>
                <a:spcPts val="1500"/>
              </a:spcBef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2026 年 5 月營運月報與全局戰略分析</a:t>
            </a:r>
          </a:p>
          <a:p>
            <a:pPr>
              <a:spcBef>
                <a:spcPts val="3000"/>
              </a:spcBef>
              <a:defRPr sz="1400">
                <a:solidFill>
                  <a:srgbClr val="C8E6D7"/>
                </a:solidFill>
                <a:latin typeface="Microsoft JhengHei"/>
              </a:defRPr>
            </a:pPr>
            <a:r>
              <a:t>蒙恬科技 ． 電子簽章業務與技術整合小組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一、 2026年5月財務營收與付費客戶結構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📊 實收總營收：NT$ 385,602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雙引擎增長模式：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專案與 API 實收：NT$ 281,122 (占比 72.9%)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SaaS 經常性訂閱：NT$ 104,480 (占比 27.1%)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專案營收特徵：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屬於一次性(One-time)系統整合款項認列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來自唯心醫管、百加乾燥、NX、得勝者等專案款結算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應與 SaaS 經常性 MRR 進行物理拆分核算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💎 SaaS 經常性訂閱方案結構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SaaS 各方案實收明細：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企業方案：NT$ 73,500 (占比 70.4%)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專業方案：NT$ 28,800 (占比 27.6%)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商務方案：NT$ 15,000 (占比 14.4% - 含部分大單延遲)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加購項目(簡訊與雲端憑證)：NT$ 680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結構分析啟示：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企業方案貢獻了月實收的 83.2% (大客客單拉動)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專業方案家數多，為 MRR/ARR 提供穩固的續訂底座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二、 2025.10 - 2026.05 SaaS 歷年實收與 MoM 趨勢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1645920"/>
                <a:gridCol w="5605272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SaaS 實收營收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付費公司數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MoM 增減幅度 / 結構明細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NT$ 64,014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145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基準月份 (企業 $35K | 專業 $27K)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NT$ 114,880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154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+79.46% (↗) (企業 $78K | 專業 $34K)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NT$ 181,440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171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+57.94% (↗) (企業 $134K | 專業 $46K)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NT$ 161,586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188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-10.94% (↘) (企業 $129K | 專業 $26K)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NT$ 129,310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-19.97% (↘) (企業 $97K | 專業 $26K)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NT$ 134,903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193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+4.33% (↗) (企業 $98K | 專業 $29K)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NT$ 194,779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198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+44.38% (↗) (企業 $142K | 專業 $34K)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NT$ 104,480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205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-46.36% (↘)* (企業 $73.5K | 商務 $15.0K | 專業 $28.8K)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646E78"/>
                </a:solidFill>
                <a:latin typeface="Microsoft JhengHei"/>
              </a:defRPr>
            </a:pPr>
            <a:r>
              <a:t>* 註：2026-05 SaaS 實收金流因大單（太平洋旅行社 $60K）生效扣款期為 6/1 呈技術下降。若併計當月專案實收 NT$ 281,122，5 月實收總營收達 NT$ 385,602，總體實收 MoM 實際為 +97.97% 強勁成長。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三、 新增註冊、獲客漏斗與 CPA 獲客成效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🚀 獲客漏斗與 CPA 獲客成效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月度獲客指標明細：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新增註冊公司數：312 家 (月免費註冊 base 擴大)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當月累計電訪註冊 Leads：30 家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表達「有興趣」：15 家 (轉換率高達 50%)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歸入「較高意願」：9 家，由 CSM 持續專人輔導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廣告費用與 CPL 精算 (當月預算 NT$ 145,080)：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寬口徑 CPL (按註冊計)：NT$ 465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CPL (按高意願計)：NT$ 1,792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💡 SaaS 核心指標釋義與業界基準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B2B 電子簽章獲客成本對照：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台灣 B2B CPA 均值：NT$ 1,000 ~ 3,200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全球 B2B CPA 均值：NT$ 2,500 ~ 6,400+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好好簽寬口徑 (NT$ 465) 極具競爭優勢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(NT$ 1,792) 落在台灣正常均值內，成效極佳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LTV : CAC 財務健康度：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企業年約客單價 LTV 估計達 NT$ 120,000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LTV:CAC 獲客效率高達 67 倍，利潤空間大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四、 SaaS 歷年四大維度與指標演進 (2024-2026)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🎯 獲客維度 (Acquisition)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歷年註冊：2024下半年 2,126 次 -&gt; 2025年 3,738 次 -&gt; 2026年前五月 1,620 次，累計用戶基數快速擴大。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5月 Ads 花費 NT$ 145,080，B2B 窄口徑 CPA 為 NT$ 1,792。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2103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💰 營收維度 (Revenue)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經常性實收：2024下半年 NT$ 95.4K -&gt; 2025年 NT$ 1.26M -&gt; 2026前五個月累計達 NT$ 728.7K。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5月單月實收創 NT$ 385,602 歷史新高 (SaaS 104K + 專案 281K)。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🔄 留存維度 (Retention)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留存防線：利用未公開之「商務方案 (降級價)」作為 Down-selling 籌碼，防守客戶流失。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透過 PipeDrive 記錄「任務活躍度」與 Line 諮詢，建立免費版活躍度預警，控制年流失率在 5% 以內。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749039"/>
            <a:ext cx="512064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📈 價值維度 (Value)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LTV 估計值：以流失率 5% 估算，企業年約客單價帶來的終身價值 (LTV) 高達 NT$ 120,000。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獲客效率：LTV:CAC 達 67 倍，投資回報率極高。2026上半年實收已完全收回獲客成本 (回本期 &lt; 12 個月)。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五、 企業客戶畫像分析 (一)：垂直深耕客群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🏥 醫療院所與生技保健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代表：得勝者(盧森眼科)、衡星牙醫、膚適美。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特徵與痛點：強烈要求 API 座標完簽、PDF 轉 Dicom 回寫，及離線暫存與 NTP 3天內校時的法規需求。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渠道特點：通訊偏向使用 LINE 或簡訊簽署，而非 Email。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🔥 點點簽漲價轉單大戶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代表：太平洋旅行社、福安管理顧問、海沃管顧。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特徵與痛點：因點點簽改為「按件計費」導致預算大漲 3-5 倍，轉投我方「吃到飽年租方案」。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核心訴求：要求 UNIFY 範本權限集中控制 (限制子帳號自建)，及數發部能量登錄許可證書。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🏠 不動產租售與代銷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代表：第一建經、佶星廣告、二房東星鴻。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特徵與痛點：業務現場看房時需平板面簽，高法律防禦需求，避免客戶賴帳。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核心訴求：要求「邊簽名邊錄影」聲明錄影防賴與 AATL 數位憑證，強化法庭上之證據力。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六、 企業客戶畫像分析 (二)：批量與地端客群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📚 大型教育與補教機構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代表：智基科技 (志光公職)。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特徵與痛點：年簽約量 3-5 萬份，決策鏈長，要求極具競爭力的階梯式報價 (Tiered Pricing)。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核心訴求：強烈依賴「公開表單簽」與批量發送，降低大批量發送的行政人力成本與錯誤率。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🏢 企業集團與數位行銷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代表：台北 101 地端 BPM 部署專案。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特徵與痛點：要求嚴格的企業安全內控，Docker 地端部署，提供原始代碼安裝包，放寬內部 WAF 規則。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核心訴求：系統異常需串接內部監控 (isHealth API)，支持雲端憑證發送與多種組織審批流。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  <a:latin typeface="Microsoft JhengHei"/>
              </a:defRPr>
            </a:pPr>
            <a:r>
              <a:t>⚠️ 技術利潤防禦邊界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代表：聖美麗健康管理 (主動婉拒)。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特徵與痛點：PDF 檔案過大 (健檢影像檔 &gt; 28MB)，嵌入 AATL 憑證時易造成伺服器負載超時簽署失敗。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決策：為此客製會破壞毛利，主動婉拒年約，確立「單檔 10MB 憑證限制」的技術防衛邊界。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七、 客戶成功主動協助新購轉化案例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🏢 企業方案 Onboarding 成功案例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豐盛富足資產管理 (企業方案月約)：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客戶註冊後因流程冷啟動，未使用簽署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主動電訪關懷，提供一對一教學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引導建立常用合約範本，於 5/7 順利訂閱企業方案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自強工業科學基金會 (企業方案短期約)：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註冊後有多人協作與權限組織管理需求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團隊迅速排定線上系統 Demo 展示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協助配置組織架構，於 5/15 成交 2 個月企業租約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✈️ 專業方案年約新簽成功案例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富友旅行社 (專業方案年約)：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旅行社面臨「代收轉付收據」與合約大量傳簽痛點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針對旅遊業痛點客製化傳簽流程引導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協助解決線上付款與多個承辦帳號授權配置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客戶滿意整體服務，於 5/8 訂閱專業方案年約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啟示：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超過 50% 註冊 Leads 存在冷啟動抗性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主動電訪介入是提升 PLG 轉化率的關鍵錨點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八、 退訂流失與專案結案歷程分析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1C1C"/>
                </a:solidFill>
                <a:latin typeface="Microsoft JhengHei"/>
              </a:defRPr>
            </a:pPr>
            <a:r>
              <a:t>⚠️ 聖美麗健檢大檔案限制主動婉拒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客戶背景與需求特徵：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聖美麗健檢報告富含影像，單一 PDF 檔高達 28MB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技術瓶頸與防衛限制：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超大檔案在嵌入 AATL 數位憑證時易造成伺服器負載超時，進而簽署失敗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為其修改底層系統架構將嚴重破壞好好簽的毛利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決策與結案歷程：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與技術小組評估後，主動予以婉拒年約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本案正式確立我方「單檔 10MB 與 AATL」防禦邊界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📋 恩主公醫院臨櫃專案結案分析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專案背景與評估範圍：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評估設置電子簽章平台供院內民眾現場臨櫃簽署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結案原因說明：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- 5/20 院方正式來信，因今年院內資源與預算配置已滿，無法支援此案開發聯絡，本案正式結案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經驗與策略啟示：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公立/大型醫療院所 IT 決策週期長，且易受預算排擠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業務與技術資源優先專注於中小型自費/連鎖診所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九、 重大專案與 API 技術串接進程 (一)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3832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合作夥伴 / 專案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本月進展 / 里程碑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技術對接與合規說明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鼎新電腦 (ISV 合作)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API 串接完成與調優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完成串接並優化 GCP 載入慢問題。已將 API 拋出連結有效時效由 60 秒調增為 15 分鐘。全力備戰 6/11 直播。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百加資通 (BPM 合作)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專案款實收開立發票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偉勝乾燥專案實收 NT$ 60,000 已於 5/30 開立發票；巨虹實收 NT$ 38,225。凌越生醫已正式結案。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中華電信 (合規保障)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瑞飛智慧憑證合規澄清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釐清好好簽 AATL 憑證確實由中華電信 CA 提供。對齊中華電信 LTV 完整時戳，確保推定法律效力。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十、 重大專案與 API 技術串接進程 (二)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3832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合作夥伴 / 專案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本月進展 / 里程碑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技術對接與合規說明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得勝者 (HIS/PACS)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旗下診所 7 月上線準備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盧森與東港盧森兩案共實收 NT$ 50,000。已設計規避斷線合規的「地端離線暫存與中華電信 NTP 校時機制」。洽談商之器 PACS 後台電簽。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台北 101 (地端專案)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獨立地端專案交付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此為獨立專案 (非中華電信引薦)。已交付 HiCloud 與 DMZ 安裝包及地端原始碼。正討論 isHealth API 檢測機制。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太平洋旅行社 (大單)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40人企業方案開通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電匯 NT$ 60,000 入帳 (5月實收)，UNIFY 權限共享範本配置完成，正式開通 (6/1 生效)。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十一、 潛力進行中專案與 B2B2C 合作進程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🤝 共享辦公合作與 API 轉單大單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1. 大瀚 GTB 租客訂閱合作案 (B2B2C)：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專屬合作體驗 Landing Page 設計確認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預計 6 月初上線，提供大瀚租客 3 個月免費體驗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共享辦公生態系獲取租客訂閱之增長模型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2. 福安健康與職安 API (轉單大戶)：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年簽署量 2 萬份，API 專案報價 12 萬簽約中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我方已提供 ISO27001 與數發部能量登錄證書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3. 聖洋科技 (cacafly) API 串接：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年簽署量 8K ~ 10K 份，正進行多品牌動態 Logo 規格規劃，初步報價每份 NT$ 20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📈 進行中潛力轉單案源跟進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1. 神坊資訊 (小樹購 API)：預估年用量 2,000 份，正提供金融業實績，議價年費中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2. 聯合線上 (udn) API：串接完成，進行流程防偽測試中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3. 鴻運聯邦 (汽車回收)：月用量 400-500 份，測試體驗中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4. 海沃管理顧問 (點點簽受災戶)：年用量 200-300 份，體驗版試用至 6/10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5. 麻吉行得通：500-600 份年約，對接 8/3 到期轉換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6. 耐斯旅行社：定型化契約 Line 傳簽測試通過，引導月費制訂閱中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7. 星鴻高雄二房東：爭取二房東自營品牌全面導入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十二、 電子簽章能量登錄與競品情報普查快照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4873752"/>
                <a:gridCol w="228600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競品名稱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能量登錄證號與有效期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產品與行銷最新動態 (100% 正式站普查)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核心弱點與痛點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好好簽 (我方)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113電簽0008</a:t>
                      </a:r>
                    </a:p>
                    <a:p>
                      <a:r>
                        <a:t>(至 116/08/13)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登錄證書已正式上線官網。主打不限件數吃到飽年約及 LINE 傳簽/聲明錄影防賴。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單檔 10MB 與 AATL 技術限制 (技術防禦邊界，確保毛利)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點點簽</a:t>
                      </a:r>
                    </a:p>
                    <a:p>
                      <a:r>
                        <a:t>(DottedSign)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113電簽0003</a:t>
                      </a:r>
                    </a:p>
                    <a:p>
                      <a:r>
                        <a:t>(至 115/08/29)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自 2026-04-21 強制廢止舊企業方案續訂，改按件計費 ($45-50/件)。整合 BizForm、MCP 大模型語意傳簽。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價格暴增 3-5 倍，用戶抗性極大，促成大量中大型客戶流失與跳槽。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律果簽</a:t>
                      </a:r>
                    </a:p>
                    <a:p>
                      <a:r>
                        <a:t>(LegalSign)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113-電簽-0005</a:t>
                      </a:r>
                    </a:p>
                    <a:p>
                      <a:r>
                        <a:t>(至 116/01/15)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主推 AI 法務助理「法樂多」，主打 30 秒自動審約、CLM 合約生命週期管理。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大批量傳簽時系統 Loading 過慢 (旅行社測試需 10 分鐘) 為其硬傷。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FastSIGN</a:t>
                      </a:r>
                    </a:p>
                    <a:p>
                      <a:r>
                        <a:t>(全景)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113-電簽-0001</a:t>
                      </a:r>
                    </a:p>
                    <a:p>
                      <a:r>
                        <a:t>(至 115/07/21)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推出 IDExpert Cloud 零信任認證，主打 PQC 後量子密碼學遷移與三階段驗證。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線上多媒體行銷較少，GEO 能見度與市場聲音偏低。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十三、 業務前線反駁話術 Battle Cards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⚔️ 點點簽 (DottedSign) 對抗話術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客戶提及：點點簽功能多，且整合了許多大型系統。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前線反駁與話術錨點：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報價分析：「點點簽自 2026/04/21 起強制廢止了舊版企業方案的續約，全面改按件計費。到期後成本將暴增 3-5 倍，預算壓力極大。」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性價比：「好好簽提供『吃到飽不限件數年租』方案，在中大用量客戶群中具備壓倒性的預算優勢。」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合規保障：「我方具備國家數發部核可《113電簽0008》證書，且提供獨家 LINE 傳簽與現場錄影防賴，背靠蒙恬科技，效力與保障更佳。」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⚔️ 律果簽 (LegalSign) 對抗話術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客戶提及：律果簽提供 AI 審約法樂多，法務功能更豐富。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前線反駁與話術錨點：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效率硬傷：「律果簽主打 AI 審約與 CLM，但在高頻大批量傳簽時系統加載極慢，旅行社大戶測試時需加載 10 分鐘，嚴重阻礙前線成交時效。」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專注本質：「好好簽採用高性能簽署引擎，流暢穩定，提供實在、極速、法庭證據力強的完簽體驗。」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合規認證：「好好簽已通過國家數發部能量登錄核可，提供最高規格的中華電信 AATL 數位憑證，法律效力無懈可擊。」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十四、 點點簽轉單效應與後續執行建議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🔥 點點簽漲價與轉單效應分析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計費模型更動：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改為以件計費 (單份約 NT$45-50)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續約報價大增 3-5 倍，用戶預算抗性大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好好簽定定價優勢：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堅持「吃到飽年租」模式，在中大用量客戶群中具備壓倒性性價比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轉單實績與商機：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太平洋旅行社 (2k份/年) 已付款轉單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福安健康 (2萬份/年) API 積極簽約中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海沃、麻吉行得通等轉單積極跟進中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📋 團隊後續重點執行建議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1. 建立財務與 CSM 數據月度對帳 SOP：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每月 5 號前勾稽財務實收金流與 CSM 新購續約名單，將誤差控制在 5% 以內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2. 優化 PLG 產品 Onboarding 引導流程：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針對逾半數註冊未簽署用戶，導入 3 分鐘動畫或範本。對註冊 48 小時內未動作者自動 Email 觸發並安排電訪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3. 擴大對點點簽受災戶之精勢行銷：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行銷業務聚焦旅行社、連鎖醫療、人資派遣等，定向投放「不限件數吃到飽」廣告，加速轉單轉化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